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65"/>
  </p:notesMasterIdLst>
  <p:sldIdLst>
    <p:sldId id="330" r:id="rId2"/>
    <p:sldId id="334" r:id="rId3"/>
    <p:sldId id="331" r:id="rId4"/>
    <p:sldId id="351" r:id="rId5"/>
    <p:sldId id="341" r:id="rId6"/>
    <p:sldId id="342" r:id="rId7"/>
    <p:sldId id="363" r:id="rId8"/>
    <p:sldId id="364" r:id="rId9"/>
    <p:sldId id="362" r:id="rId10"/>
    <p:sldId id="365" r:id="rId11"/>
    <p:sldId id="348" r:id="rId12"/>
    <p:sldId id="349" r:id="rId13"/>
    <p:sldId id="350" r:id="rId14"/>
    <p:sldId id="360" r:id="rId15"/>
    <p:sldId id="343" r:id="rId16"/>
    <p:sldId id="346" r:id="rId17"/>
    <p:sldId id="347" r:id="rId18"/>
    <p:sldId id="345" r:id="rId19"/>
    <p:sldId id="352" r:id="rId20"/>
    <p:sldId id="344" r:id="rId21"/>
    <p:sldId id="340" r:id="rId22"/>
    <p:sldId id="298" r:id="rId23"/>
    <p:sldId id="300" r:id="rId24"/>
    <p:sldId id="258" r:id="rId25"/>
    <p:sldId id="299" r:id="rId26"/>
    <p:sldId id="301" r:id="rId27"/>
    <p:sldId id="259" r:id="rId28"/>
    <p:sldId id="256" r:id="rId29"/>
    <p:sldId id="318" r:id="rId30"/>
    <p:sldId id="319" r:id="rId31"/>
    <p:sldId id="322" r:id="rId32"/>
    <p:sldId id="320" r:id="rId33"/>
    <p:sldId id="309" r:id="rId34"/>
    <p:sldId id="310" r:id="rId35"/>
    <p:sldId id="329" r:id="rId36"/>
    <p:sldId id="358" r:id="rId37"/>
    <p:sldId id="359" r:id="rId38"/>
    <p:sldId id="366" r:id="rId39"/>
    <p:sldId id="373" r:id="rId40"/>
    <p:sldId id="262" r:id="rId41"/>
    <p:sldId id="264" r:id="rId42"/>
    <p:sldId id="314" r:id="rId43"/>
    <p:sldId id="304" r:id="rId44"/>
    <p:sldId id="306" r:id="rId45"/>
    <p:sldId id="307" r:id="rId46"/>
    <p:sldId id="325" r:id="rId47"/>
    <p:sldId id="316" r:id="rId48"/>
    <p:sldId id="263" r:id="rId49"/>
    <p:sldId id="317" r:id="rId50"/>
    <p:sldId id="333" r:id="rId51"/>
    <p:sldId id="336" r:id="rId52"/>
    <p:sldId id="353" r:id="rId53"/>
    <p:sldId id="354" r:id="rId54"/>
    <p:sldId id="355" r:id="rId55"/>
    <p:sldId id="356" r:id="rId56"/>
    <p:sldId id="357" r:id="rId57"/>
    <p:sldId id="305" r:id="rId58"/>
    <p:sldId id="372" r:id="rId59"/>
    <p:sldId id="261" r:id="rId60"/>
    <p:sldId id="266" r:id="rId61"/>
    <p:sldId id="371" r:id="rId62"/>
    <p:sldId id="274" r:id="rId63"/>
    <p:sldId id="275" r:id="rId6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F6E9"/>
    <a:srgbClr val="3F5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3" autoAdjust="0"/>
    <p:restoredTop sz="83660" autoAdjust="0"/>
  </p:normalViewPr>
  <p:slideViewPr>
    <p:cSldViewPr snapToGrid="0">
      <p:cViewPr varScale="1">
        <p:scale>
          <a:sx n="65" d="100"/>
          <a:sy n="65" d="100"/>
        </p:scale>
        <p:origin x="11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8D487-1C07-478C-B21C-58E9FEEF80C5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7B511-870B-42CD-BE3C-FA0870AAB7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3206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D703F-CB46-D74D-9DD5-93C8174E86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73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D703F-CB46-D74D-9DD5-93C8174E86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36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 tipos de modelos «derivados», ver Iñaki Arto, Ignacio Cazcarro, Kurt Kratena, Manuel Tomás (2026). Beyond Traditional Consumption Models: Social and Planetary Boundaries must be present in Macroeconomic Frameworks.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0103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Auclert, A. (2019). «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Monetary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Policy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Redistribution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Channel». </a:t>
            </a:r>
            <a:r>
              <a:rPr lang="es-E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American </a:t>
            </a:r>
            <a:r>
              <a:rPr lang="es-E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</a:t>
            </a:r>
            <a:r>
              <a:rPr lang="es-E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109(6), 2333‑2367.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4764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Eurofound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(2022). </a:t>
            </a:r>
            <a:r>
              <a:rPr lang="es-E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Minimum</a:t>
            </a:r>
            <a:r>
              <a:rPr lang="es-E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wages</a:t>
            </a:r>
            <a:r>
              <a:rPr lang="es-E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2022: </a:t>
            </a:r>
            <a:r>
              <a:rPr lang="es-E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Annual</a:t>
            </a:r>
            <a:r>
              <a:rPr lang="es-E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Luxembourg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Publications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Office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152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E9EB6-3BBD-CF4B-8526-13668AEC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5E2652-B4E6-7D82-5B91-A2D75FE32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85F57F-6149-8E5B-1B08-B58E9C419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Basado en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Iñaki Arto, Ignacio Cazcarro, Kurt Kratena, Manuel Tomás (2026). Beyond Traditional Consumption Models: Social and Planetary Boundaries must be present in Macroeconomic Frameworks. En 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Arto et al. (2026)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 un conjunto de características deseables para la modelización del consumo en marcos de evaluación integrada que incorporen la dimensión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socioecológica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prestando especial atención al papel de los hogares. Frente a los modelos macroeconómicos tradicionales con un agente representativo, se reivindica la necesidad de introducir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heterogeneidad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 los hogares (por renta, composición, ámbito urbano/rural) y permitir que esa heterogeneidad evolucione de forma endógena, integrando microdatos y proyecciones demográficas para evitar sesgos distributivos. Además, se defiende que la modelización debe desagregar el consumo en múltiples categorías de bienes y servicios (siguiendo clasificaciones como COICOP y NACE) para capturar tanto las distintas pautas de gasto de los hogares como los impactos ambientales y sociales asociados, con especial atención a sectores esenciales (salud, educación, servicios sociales) y a aquellos relevantes para la transición energética (transporte, vivienda, alimentación).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Otro pilar fundamental es la vinculación explícita del consumo con la renta disponible, el empleo y la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riqueza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distinguiendo entre bienes duraderos y no duraderos, e incorporando las restricciones de liquidez y el crédito, lo que permite analizar cómo perturbaciones como un impuesto al carbono se transmiten por la economía. Para dotar de base empírica a estas conexiones, el texto incide en la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integración de microdatos y macrodatos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armonizar encuestas de presupuestos familiares, condiciones de vida, situación financiera y fuerza de trabajo con las cuentas nacionales, utilizando técnicas de emparejamiento estadístico y modelos econométricos como los sistemas de demanda (QUAIDS). Esta integración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micro-macro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esencial para calibrar parámetros y enriquecer el realismo de los modelos agregados.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Asimismo, se subraya la conveniencia de conectar la modelización del consumo con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modelos sectoriales detallados (bottom-up)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energía, transporte y vivienda, superando representaciones puramente macroeconómicas y capturando flujos físicos, dinámicas de los parques de edificios y vehículos, y el retorno energético de las tecnologías. Finalmente, se propone superar el supuesto del agente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hiperracional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integrar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factores conductuales, sociales y de satisfacción de necesidades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estatus social, formación de hábitos, difusión de prácticas sostenibles a través de redes sociales y cambios endógenos en las preferencias, elementos todos ellos cruciales para evaluar transiciones ecológicas y políticas de decrecimiento. El texto concluye que una modelización del consumo que aspire a informar políticas transformadoras debe combinar heterogeneidad realista, anclaje empírico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micro-macro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desagregación sectorial y fundamentos conductuales.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9A4FB4-DBD6-EE32-00E8-29D6917BE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4302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5D62-4507-D225-4E94-40C3E3E73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542335-0215-66AB-83FC-94B9F7C38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19179C-311A-AF99-F4BC-11AA5EF71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Basado en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Iñaki Arto, Ignacio Cazcarro, Kurt Kratena, Manuel Tomás (2026). Beyond Traditional Consumption Models: Social and Planetary Boundaries must be present in Macroeconomic Frameworks. En 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Arto et al. (2026)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 un conjunto de características deseables para la modelización del consumo en marcos de evaluación integrada que incorporen la dimensión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socioecológica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prestando especial atención al papel de los hogares. Frente a los modelos macroeconómicos tradicionales con un agente representativo, se reivindica la necesidad de introducir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heterogeneidad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 los hogares (por renta, composición, ámbito urbano/rural) y permitir que esa heterogeneidad evolucione de forma endógena, integrando microdatos y proyecciones demográficas para evitar sesgos distributivos. Además, se defiende que la modelización debe desagregar el consumo en múltiples categorías de bienes y servicios (siguiendo clasificaciones como COICOP y NACE) para capturar tanto las distintas pautas de gasto de los hogares como los impactos ambientales y sociales asociados, con especial atención a sectores esenciales (salud, educación, servicios sociales) y a aquellos relevantes para la transición energética (transporte, vivienda, alimentación).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Otro pilar fundamental es la vinculación explícita del consumo con la renta disponible, el empleo y la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riqueza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distinguiendo entre bienes duraderos y no duraderos, e incorporando las restricciones de liquidez y el crédito, lo que permite analizar cómo perturbaciones como un impuesto al carbono se transmiten por la economía. Para dotar de base empírica a estas conexiones, el texto incide en la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integración de microdatos y macrodatos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armonizar encuestas de presupuestos familiares, condiciones de vida, situación financiera y fuerza de trabajo con las cuentas nacionales, utilizando técnicas de emparejamiento estadístico y modelos econométricos como los sistemas de demanda (QUAIDS). Esta integración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micro-macro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esencial para calibrar parámetros y enriquecer el realismo de los modelos agregados.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Asimismo, se subraya la conveniencia de conectar la modelización del consumo con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modelos sectoriales detallados (bottom-up)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energía, transporte y vivienda, superando representaciones puramente macroeconómicas y capturando flujos físicos, dinámicas de los parques de edificios y vehículos, y el retorno energético de las tecnologías. Finalmente, se propone superar el supuesto del agente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hiperracional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integrar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factores conductuales, sociales y de satisfacción de necesidades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estatus social, formación de hábitos, difusión de prácticas sostenibles a través de redes sociales y cambios endógenos en las preferencias, elementos todos ellos cruciales para evaluar transiciones ecológicas y políticas de decrecimiento. El texto concluye que una modelización del consumo que aspire a informar políticas transformadoras debe combinar heterogeneidad realista, anclaje empírico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micro-macro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desagregación sectorial y fundamentos conductuales.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41EFD1-E708-79DF-8240-7242F46C5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019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E4A23-C5B2-7563-41D4-AF4BD071C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3E3989-39EB-20B7-7150-59DF68DC8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9AB0E0-DBD4-B8CF-FCA7-50DAE81E0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Basado en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Iñaki Arto, Ignacio Cazcarro, Kurt Kratena, Manuel Tomás (2026). Beyond Traditional Consumption Models: Social and Planetary Boundaries must be present in Macroeconomic Frameworks. En 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Arto et al. (2026)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 un conjunto de características deseables para la modelización del consumo en marcos de evaluación integrada que incorporen la dimensión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socioecológica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prestando especial atención al papel de los hogares. Frente a los modelos macroeconómicos tradicionales con un agente representativo, se reivindica la necesidad de introducir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heterogeneidad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 los hogares (por renta, composición, ámbito urbano/rural) y permitir que esa heterogeneidad evolucione de forma endógena, integrando microdatos y proyecciones demográficas para evitar sesgos distributivos. Además, se defiende que la modelización debe desagregar el consumo en múltiples categorías de bienes y servicios (siguiendo clasificaciones como COICOP y NACE) para capturar tanto las distintas pautas de gasto de los hogares como los impactos ambientales y sociales asociados, con especial atención a sectores esenciales (salud, educación, servicios sociales) y a aquellos relevantes para la transición energética (transporte, vivienda, alimentación).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Otro pilar fundamental es la vinculación explícita del consumo con la renta disponible, el empleo y la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riqueza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distinguiendo entre bienes duraderos y no duraderos, e incorporando las restricciones de liquidez y el crédito, lo que permite analizar cómo perturbaciones como un impuesto al carbono se transmiten por la economía. Para dotar de base empírica a estas conexiones, el texto incide en la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integración de microdatos y macrodatos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armonizar encuestas de presupuestos familiares, condiciones de vida, situación financiera y fuerza de trabajo con las cuentas nacionales, utilizando técnicas de emparejamiento estadístico y modelos econométricos como los sistemas de demanda (QUAIDS). Esta integración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micro-macro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esencial para calibrar parámetros y enriquecer el realismo de los modelos agregados.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Asimismo, se subraya la conveniencia de conectar la modelización del consumo con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modelos sectoriales detallados (bottom-up)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energía, transporte y vivienda, superando representaciones puramente macroeconómicas y capturando flujos físicos, dinámicas de los parques de edificios y vehículos, y el retorno energético de las tecnologías. Finalmente, se propone superar el supuesto del agente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hiperracional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integrar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factores conductuales, sociales y de satisfacción de necesidades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estatus social, formación de hábitos, difusión de prácticas sostenibles a través de redes sociales y cambios endógenos en las preferencias, elementos todos ellos cruciales para evaluar transiciones ecológicas y políticas de decrecimiento. El texto concluye que una modelización del consumo que aspire a informar políticas transformadoras debe combinar heterogeneidad realista, anclaje empírico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micro-macro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desagregación sectorial y fundamentos conductuales.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632FC7-5145-8957-68F7-E6EA7282F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2060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A49DB-0010-4911-84EE-73DE1D9F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72F060-3A5A-0BB6-2625-1C5491F98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149B99-02A8-CD68-85AD-9CCDB5C1A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Basado en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Iñaki Arto, Ignacio Cazcarro, Kurt Kratena, Manuel Tomás (2026). Beyond Traditional Consumption Models: Social and Planetary Boundaries must be present in Macroeconomic Frameworks.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Arto et al. (2026)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 un conjunto de características deseables para la modelización del consumo en marcos de evaluación integrada que incorporen la dimensión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socioecológica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prestando especial atención al papel de los hogares. Frente a los modelos macroeconómicos tradicionales con un agente representativo, se reivindica la necesidad de introducir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heterogeneidad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 los hogares (por renta, composición, ámbito urbano/rural) y permitir que esa heterogeneidad evolucione de forma endógena, integrando microdatos y proyecciones demográficas para evitar sesgos distributivos. Además, se defiende que la modelización debe desagregar el consumo en múltiples categorías de bienes y servicios (siguiendo clasificaciones como COICOP y NACE) para capturar tanto las distintas pautas de gasto de los hogares como los impactos ambientales y sociales asociados, con especial atención a sectores esenciales (salud, educación, servicios sociales) y a aquellos relevantes para la transición energética (transporte, vivienda, alimentación).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Otro pilar fundamental es la vinculación explícita del consumo con la renta disponible, el empleo y la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riqueza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distinguiendo entre bienes duraderos y no duraderos, e incorporando las restricciones de liquidez y el crédito, lo que permite analizar cómo perturbaciones como un impuesto al carbono se transmiten por la economía. Para dotar de base empírica a estas conexiones, el texto incide en la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integración de microdatos y macrodatos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armonizar encuestas de presupuestos familiares, condiciones de vida, situación financiera y fuerza de trabajo con las cuentas nacionales, utilizando técnicas de emparejamiento estadístico y modelos econométricos como los sistemas de demanda (QUAIDS). Esta integración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micro-macro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esencial para calibrar parámetros y enriquecer el realismo de los modelos agregados.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Asimismo, se subraya la conveniencia de conectar la modelización del consumo con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modelos sectoriales detallados (bottom-up)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energía, transporte y vivienda, superando representaciones puramente macroeconómicas y capturando flujos físicos, dinámicas de los parques de edificios y vehículos, y el retorno energético de las tecnologías. Finalmente, se propone superar el supuesto del agente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hiperracional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integrar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factores conductuales, sociales y de satisfacción de necesidades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estatus social, formación de hábitos, difusión de prácticas sostenibles a través de redes sociales y cambios endógenos en las preferencias, elementos todos ellos cruciales para evaluar transiciones ecológicas y políticas de decrecimiento. El texto concluye que una modelización del consumo que aspire a informar políticas transformadoras debe combinar heterogeneidad realista, anclaje empírico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micro-macro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desagregación sectorial y fundamentos conductuales.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A39C04-2028-A1C6-E6C4-C3633ED32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177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8332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AA2F-E780-5804-C1EC-C27FF471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611AF7-0E81-3672-717A-3766B1129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FC8C5E5-301A-3490-F6E3-A5D001946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9B0C05-CA24-B890-3EDE-D224EEF79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357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0C65D-7133-DEF9-A2AE-6A335A57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5E3F9E-0669-FA00-5EA6-B5969BC29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30AB62-892E-DCC1-51CE-C66726E68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91BBA3-E9B1-7382-C5BF-D55A3DEAD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3826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522DE-F70B-8D21-9836-FC98AA33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2C9154-77CC-8DB6-5E99-5E0905474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C7F21FE-E0F5-E6B3-402B-83BA97001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7F10C2-3E5B-7920-9C6A-0310B1F70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6491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https://www.tandfonline.com/doi/full/10.1080/09535314.2020.1856044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85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Eurostat (2018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guidelines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revising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ESA 2010 data — 2019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https://ec.europa.eu/eurostat/web/products-manuals-and-guidelines/-/KS-GQ-18-012</a:t>
            </a:r>
            <a:endParaRPr lang="es-ES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0853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B511-870B-42CD-BE3C-FA0870AAB7F1}" type="slidenum">
              <a:rPr lang="es-ES" smtClean="0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3208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8014B-081F-A0E4-EDD9-E3BEDD2B1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6430AC-6043-9B6D-4F40-DE5F72BDF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090C30-29C9-59E4-1AD9-6A22D160F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EAB010-0F4D-1EA3-9E05-50D038534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D703F-CB46-D74D-9DD5-93C8174E86C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00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8B4BA-03FE-69B1-4EC6-C16E4F231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FFC143-3131-2158-50C0-A6BC2E9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6D00B1-FC8C-100E-CAC0-36A4A89E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2121B9-74AE-234E-04EC-EE515621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0BE47-70A8-99BB-A3E8-EF9DCF05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557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02937-7B91-21F8-E843-5A3DB076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B008A4-F090-B1FE-9874-9D9D3304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7000DF-77B5-3B89-0379-D59490BB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0672DD-6804-497B-615E-A6EC170E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FDDE03-6BAC-FE99-1D55-C16F9537E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4641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C1F6D-CCD8-BA56-E1D0-55AE630BF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E0379E-2BDF-F85C-16B8-B78177F1E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492297-FE5E-F47F-E10F-4769AD2A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45A104-03A0-71C8-9472-6D992D0E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A4D0C6-7583-F803-0769-834E4A88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834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AD60A-4982-F56D-7971-EF2DA0C7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D44250-43EC-B0E8-3EFC-312F98671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6B3D1C-29A2-AF5C-98F1-DF1B44081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8E7E83-9E90-E1BB-C657-1268C1A7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EEF368-3153-BC83-8FD0-F0B24656E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5C9F79-D838-7774-74AE-6871768A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724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41A5C-5791-9C86-F919-57EDD30F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9ED297-CC57-4448-DD38-046AE792D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245E4A-3A5A-4A0C-3F03-1005DBD44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C214DE-A4E2-8395-9391-9C0E74E1B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B86A37-693A-A910-7301-A514F1EA3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B366CD3-CEDD-5E39-24FE-A64A510A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3A0801F-C275-4A17-3D22-7D54794D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7C1ACB-454E-B58B-5975-98F9E174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616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E4086-4426-2C1F-69D7-E043EC55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63504B-7D42-548D-1BD7-7A1A573B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C799F0-13AB-E56F-B303-D06ADE62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C54409-8C34-2726-B738-8D957898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036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D17EEB-DF25-B0D8-A4E0-4BA0D404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6CF98A-2EC4-570C-87C1-8F09E1C3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8ABB9C-6F6D-F2DC-9261-30DA9CAE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079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36F73-FFD5-EE5B-D7A0-60AB1E3D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ED2B10-EB80-663E-9020-3DDE73B5D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6D1F6C-A95D-93B9-38B4-05BF0455A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D6BE7D-1937-4ECE-FC4D-C265AC7E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3067A1-C3A8-FEFE-6C07-E9B107ECB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A7733F-234F-5DCF-B7BD-881283D8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449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2B1C9-6205-17F9-3EF8-12648B27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564774-9ACA-9D62-01AC-10C391156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57561F-49A5-015C-3A36-73515EEA9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1FA775-BE14-7A67-FE38-50CA340F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450D17-7476-9B5F-B113-FEE599D4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475534-3A45-EB5F-DC98-BCAA01FA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2790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39270-DC03-AE6F-4F27-20CC2DEA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65EBCE-D83C-032D-B4A0-2C4E0F456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C4ECE3-044B-E4F8-B08F-D9B73EB9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AD60C4-95E0-3F1D-F847-DBB46F61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BBF645-4BFA-74C7-156F-D9A0CEF9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235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E4C8EA-5AB9-A360-867C-53C44E3404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C4F0C9-3C9C-3F1F-DEC5-123CAAC0C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7E8CCB-59AE-AE71-4D26-9045879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0E9FAF-CFD9-5BCD-F8A9-FBAC2418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BCFADD-42CD-3095-3C20-4E80BB14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991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ADCD8B-2430-10ED-37AD-F606226F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47198-4485-D421-5CEE-ABEDC0684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6E056B-F6F4-7DA3-9FFC-32B2002D5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8F636-CB28-4F4F-9634-224C5684059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25D206-D501-9536-1C6D-4925C5C3C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E330BE-D337-4141-61DB-3B16A2035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9F082-FBBB-475C-B605-8DB818E943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72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urostat/web/products-manuals-and-guidelines/-/ks-02-13-269" TargetMode="External"/><Relationship Id="rId7" Type="http://schemas.openxmlformats.org/officeDocument/2006/relationships/hyperlink" Target="https://ec.europa.eu/eurostat/web/products-manuals-and-guidelines/-/KS-GQ-18-01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c.europa.eu/eurostat/web/cpa/correspondence-tables" TargetMode="External"/><Relationship Id="rId5" Type="http://schemas.openxmlformats.org/officeDocument/2006/relationships/hyperlink" Target="https://unece.org/sites/default/files/2021-03/5.2%20Imputed%20rental%20in%20EECCA%20countries%20-%20compilation%20challanges%20%28en%29.pdf" TargetMode="External"/><Relationship Id="rId4" Type="http://schemas.openxmlformats.org/officeDocument/2006/relationships/hyperlink" Target="https://www.oecd.org/content/dam/oecd/en/publications/reports/2002/05/measuring-the-non-observed-economy-a-handbook_g1ghge7e/9789264175358-en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urostat/statistics-explained/index.php?title=Greenhouse_gas_emission_footprint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787/9789264194830-en" TargetMode="External"/><Relationship Id="rId5" Type="http://schemas.openxmlformats.org/officeDocument/2006/relationships/hyperlink" Target="https://www.aeaweb.org/articles?id=10.1257/app.20200703" TargetMode="External"/><Relationship Id="rId4" Type="http://schemas.openxmlformats.org/officeDocument/2006/relationships/hyperlink" Target="https://ec.europa.eu/eurostat/web/experimental-statistics/income-consumption-social-surveys-national-account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at.it/wp-content/uploads/2018/11/Scanu_original-paper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07/978-3-642-24746-0" TargetMode="External"/><Relationship Id="rId5" Type="http://schemas.openxmlformats.org/officeDocument/2006/relationships/hyperlink" Target="https://ec.europa.eu/eurostat/statistics-explained/index.php?title=Concepts_for_household_consumption_-_comparison_between_micro_and_macro_approach" TargetMode="External"/><Relationship Id="rId4" Type="http://schemas.openxmlformats.org/officeDocument/2006/relationships/hyperlink" Target="https://unstats.un.org/unsd/nationalaccount/pubsDB.asp?pType=2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id.world/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full/10.1080/09535314.2020.1856044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e.es/dyngs/INEbase/es/operacion.htm?c=Estadistica_C&amp;cid=1254736176806&amp;menu=ultiDatos&amp;idp=1254735976608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tandfonline.com/doi/full/10.1080/09535314.2020.1856044#d1e222" TargetMode="Externa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bc3LC/lecture_ihcmio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slide" Target="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suppl/10.1080/09535314.2020.1856044?scroll=top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tandfonline.com/doi/suppl/10.1080/09535314.2020.1856044?scroll=top" TargetMode="Externa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ítulo 2">
            <a:extLst>
              <a:ext uri="{FF2B5EF4-FFF2-40B4-BE49-F238E27FC236}">
                <a16:creationId xmlns:a16="http://schemas.microsoft.com/office/drawing/2014/main" id="{7BD38F66-C6C1-9E4D-8C5D-6903303EB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091" y="294639"/>
            <a:ext cx="10775576" cy="1547734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36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Curso: Conceptualización e Integración de microdatos de consumo de hogares en modelos input-output</a:t>
            </a:r>
            <a:endParaRPr lang="es-ES" sz="3600" b="1" dirty="0">
              <a:solidFill>
                <a:srgbClr val="11B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9F83DED-72BE-6248-A9F4-6C3BCCB94F6C}"/>
              </a:ext>
            </a:extLst>
          </p:cNvPr>
          <p:cNvSpPr/>
          <p:nvPr/>
        </p:nvSpPr>
        <p:spPr>
          <a:xfrm>
            <a:off x="1524001" y="6312624"/>
            <a:ext cx="9144001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Roboto Condensed Light"/>
                <a:cs typeface="Roboto Condensed Light"/>
              </a:rPr>
              <a:t>14-17 June 2022, Pisa, Italy</a:t>
            </a:r>
          </a:p>
        </p:txBody>
      </p:sp>
      <p:sp>
        <p:nvSpPr>
          <p:cNvPr id="16" name="8 Rectángulo">
            <a:extLst>
              <a:ext uri="{FF2B5EF4-FFF2-40B4-BE49-F238E27FC236}">
                <a16:creationId xmlns:a16="http://schemas.microsoft.com/office/drawing/2014/main" id="{319D52C6-3EFA-794B-8084-56D313FAC1A9}"/>
              </a:ext>
            </a:extLst>
          </p:cNvPr>
          <p:cNvSpPr/>
          <p:nvPr/>
        </p:nvSpPr>
        <p:spPr>
          <a:xfrm>
            <a:off x="1295399" y="2226918"/>
            <a:ext cx="9601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Impartido por:</a:t>
            </a:r>
          </a:p>
          <a:p>
            <a:pPr algn="ctr">
              <a:lnSpc>
                <a:spcPct val="150000"/>
              </a:lnSpc>
            </a:pPr>
            <a:r>
              <a:rPr lang="es-ES" sz="2400" b="1" dirty="0">
                <a:solidFill>
                  <a:srgbClr val="1D68C1"/>
                </a:solidFill>
                <a:cs typeface="Times New Roman" panose="02020603050405020304" pitchFamily="18" charset="0"/>
              </a:rPr>
              <a:t>Manuel Tomás</a:t>
            </a: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.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Times New Roman" panose="02020603050405020304" pitchFamily="18" charset="0"/>
              </a:rPr>
              <a:t>BC3 (Basque Centre for Climate Change)</a:t>
            </a:r>
          </a:p>
          <a:p>
            <a:pPr algn="ctr">
              <a:lnSpc>
                <a:spcPct val="150000"/>
              </a:lnSpc>
            </a:pPr>
            <a:r>
              <a:rPr lang="es-ES" sz="2400" b="1" dirty="0">
                <a:solidFill>
                  <a:srgbClr val="1D68C1"/>
                </a:solidFill>
                <a:cs typeface="Times New Roman" panose="02020603050405020304" pitchFamily="18" charset="0"/>
              </a:rPr>
              <a:t>Ignacio Cazcarro</a:t>
            </a: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.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Times New Roman" panose="02020603050405020304" pitchFamily="18" charset="0"/>
              </a:rPr>
              <a:t>ARAID (Aragonese Agency for </a:t>
            </a:r>
            <a:r>
              <a:rPr lang="es-ES" sz="2400" dirty="0" err="1">
                <a:solidFill>
                  <a:schemeClr val="bg2">
                    <a:lumMod val="25000"/>
                  </a:schemeClr>
                </a:solidFill>
                <a:cs typeface="Times New Roman" panose="02020603050405020304" pitchFamily="18" charset="0"/>
              </a:rPr>
              <a:t>Research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Times New Roman" panose="02020603050405020304" pitchFamily="18" charset="0"/>
              </a:rPr>
              <a:t> and Development) &amp; BC3 (Basque Centre for Climate Change)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862581" y="4638031"/>
            <a:ext cx="6096000" cy="21913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s-ES" b="1" dirty="0"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SHAIO</a:t>
            </a:r>
            <a:endParaRPr lang="en-GB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s-ES" b="1" dirty="0"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Escuela de Análisis Input-Output</a:t>
            </a:r>
            <a:endParaRPr lang="en-GB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b="1" dirty="0"/>
              <a:t>32</a:t>
            </a:r>
            <a:r>
              <a:rPr lang="es-ES" b="1" baseline="30000" dirty="0"/>
              <a:t>nd</a:t>
            </a:r>
            <a:r>
              <a:rPr lang="es-ES" b="1" dirty="0"/>
              <a:t> International Input-Output </a:t>
            </a:r>
            <a:r>
              <a:rPr lang="es-ES" b="1" dirty="0" err="1"/>
              <a:t>Association</a:t>
            </a:r>
            <a:r>
              <a:rPr lang="es-ES" b="1" dirty="0"/>
              <a:t> </a:t>
            </a:r>
            <a:r>
              <a:rPr lang="es-ES" b="1" dirty="0" err="1"/>
              <a:t>Conference</a:t>
            </a:r>
            <a:br>
              <a:rPr lang="es-ES" b="1" dirty="0"/>
            </a:br>
            <a:r>
              <a:rPr lang="es-ES" b="1" dirty="0"/>
              <a:t>14</a:t>
            </a:r>
            <a:r>
              <a:rPr lang="es-ES" b="1" baseline="30000" dirty="0"/>
              <a:t>th</a:t>
            </a:r>
            <a:r>
              <a:rPr lang="es-ES" b="1" dirty="0"/>
              <a:t> </a:t>
            </a:r>
            <a:r>
              <a:rPr lang="es-ES" b="1" dirty="0" err="1"/>
              <a:t>Edition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International School </a:t>
            </a:r>
            <a:r>
              <a:rPr lang="es-ES" b="1" dirty="0" err="1"/>
              <a:t>of</a:t>
            </a:r>
            <a:r>
              <a:rPr lang="es-ES" b="1" dirty="0"/>
              <a:t> I-O </a:t>
            </a:r>
            <a:r>
              <a:rPr lang="es-ES" b="1" dirty="0" err="1"/>
              <a:t>Analysis</a:t>
            </a:r>
            <a:br>
              <a:rPr lang="es-ES" b="1" dirty="0"/>
            </a:br>
            <a:r>
              <a:rPr lang="es-ES" b="1" dirty="0"/>
              <a:t>11</a:t>
            </a:r>
            <a:r>
              <a:rPr lang="es-ES" b="1" baseline="30000" dirty="0"/>
              <a:t>th</a:t>
            </a:r>
            <a:r>
              <a:rPr lang="es-ES" b="1" dirty="0"/>
              <a:t> Jornadas de Análisis Input Output</a:t>
            </a:r>
            <a:br>
              <a:rPr lang="es-ES" b="1" dirty="0"/>
            </a:br>
            <a:r>
              <a:rPr lang="es-ES" b="1" dirty="0"/>
              <a:t>22</a:t>
            </a:r>
            <a:r>
              <a:rPr lang="es-ES" b="1" baseline="30000" dirty="0"/>
              <a:t>nd</a:t>
            </a:r>
            <a:r>
              <a:rPr lang="es-ES" b="1" dirty="0"/>
              <a:t> - 26</a:t>
            </a:r>
            <a:r>
              <a:rPr lang="es-ES" b="1" baseline="30000" dirty="0"/>
              <a:t>th</a:t>
            </a:r>
            <a:r>
              <a:rPr lang="es-ES" b="1" dirty="0"/>
              <a:t> June 2026, Seville, Spain</a:t>
            </a:r>
          </a:p>
          <a:p>
            <a:pPr algn="ctr"/>
            <a:endParaRPr lang="es-ES" dirty="0"/>
          </a:p>
        </p:txBody>
      </p:sp>
      <p:sp>
        <p:nvSpPr>
          <p:cNvPr id="8" name="Rectangle 7"/>
          <p:cNvSpPr/>
          <p:nvPr/>
        </p:nvSpPr>
        <p:spPr>
          <a:xfrm>
            <a:off x="9753327" y="5928080"/>
            <a:ext cx="1829348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22 de Junio 2026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623E8C-E498-3EE9-F7B8-0D3BEBD7E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38" y="5015627"/>
            <a:ext cx="1567070" cy="146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33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A40B160-F131-0D5E-7269-9AB3B928D138}"/>
              </a:ext>
            </a:extLst>
          </p:cNvPr>
          <p:cNvSpPr txBox="1"/>
          <p:nvPr/>
        </p:nvSpPr>
        <p:spPr>
          <a:xfrm>
            <a:off x="1412240" y="2081360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s-ES" sz="2800" b="1" dirty="0">
                <a:solidFill>
                  <a:srgbClr val="FF0000"/>
                </a:solidFill>
              </a:rPr>
              <a:t> 45’</a:t>
            </a:r>
            <a:r>
              <a:rPr lang="es-ES" sz="2800" b="1" dirty="0">
                <a:solidFill>
                  <a:srgbClr val="0070C0"/>
                </a:solidFill>
              </a:rPr>
              <a:t> Sesión 1. Discrepancias entre microdatos de consumo y modelos (tablas) IO.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93D81B-5419-EE7C-7C4F-88915AB13987}"/>
              </a:ext>
            </a:extLst>
          </p:cNvPr>
          <p:cNvSpPr txBox="1">
            <a:spLocks/>
          </p:cNvSpPr>
          <p:nvPr/>
        </p:nvSpPr>
        <p:spPr>
          <a:xfrm>
            <a:off x="1230810" y="3805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400"/>
            </a:pPr>
            <a:r>
              <a:rPr lang="es-ES" sz="4800" dirty="0">
                <a:solidFill>
                  <a:srgbClr val="FF0000"/>
                </a:solidFill>
              </a:rPr>
              <a:t>Programa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41DFDC-702E-162F-C95F-A98EB35B513D}"/>
              </a:ext>
            </a:extLst>
          </p:cNvPr>
          <p:cNvSpPr txBox="1"/>
          <p:nvPr/>
        </p:nvSpPr>
        <p:spPr>
          <a:xfrm>
            <a:off x="1412240" y="3124521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es-ES" sz="2800" b="1" dirty="0">
                <a:solidFill>
                  <a:srgbClr val="FF0000"/>
                </a:solidFill>
              </a:rPr>
              <a:t>1,5h</a:t>
            </a:r>
            <a:r>
              <a:rPr lang="es-ES" sz="2800" b="1" dirty="0">
                <a:solidFill>
                  <a:srgbClr val="0070C0"/>
                </a:solidFill>
              </a:rPr>
              <a:t> Sesión 2. Metodología de integración: del hogar al sector (Teoría)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EC28D34-944A-4F88-469F-B9E9CC123DDA}"/>
              </a:ext>
            </a:extLst>
          </p:cNvPr>
          <p:cNvSpPr txBox="1"/>
          <p:nvPr/>
        </p:nvSpPr>
        <p:spPr>
          <a:xfrm>
            <a:off x="1402080" y="4057402"/>
            <a:ext cx="8625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es-ES" sz="2800" b="1" dirty="0">
                <a:solidFill>
                  <a:srgbClr val="FF0000"/>
                </a:solidFill>
              </a:rPr>
              <a:t>1,5h </a:t>
            </a:r>
            <a:r>
              <a:rPr lang="es-ES" sz="2800" b="1" dirty="0">
                <a:solidFill>
                  <a:srgbClr val="0070C0"/>
                </a:solidFill>
              </a:rPr>
              <a:t>Sesión 3. Taller práctico: Implementación en Excel y en R para España (Práctica).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436E8CF-8150-B1B6-F13F-AA594525B37C}"/>
              </a:ext>
            </a:extLst>
          </p:cNvPr>
          <p:cNvSpPr txBox="1"/>
          <p:nvPr/>
        </p:nvSpPr>
        <p:spPr>
          <a:xfrm>
            <a:off x="1412240" y="5132894"/>
            <a:ext cx="9387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es-ES" sz="2800" b="1" dirty="0">
                <a:solidFill>
                  <a:srgbClr val="FF0000"/>
                </a:solidFill>
              </a:rPr>
              <a:t>1h</a:t>
            </a:r>
            <a:r>
              <a:rPr lang="es-ES" sz="1800" b="1" dirty="0">
                <a:solidFill>
                  <a:srgbClr val="FF0000"/>
                </a:solidFill>
              </a:rPr>
              <a:t> </a:t>
            </a:r>
            <a:r>
              <a:rPr lang="es-ES" sz="2800" b="1" dirty="0">
                <a:solidFill>
                  <a:srgbClr val="0070C0"/>
                </a:solidFill>
              </a:rPr>
              <a:t>Sesión 4. Taller práctico: Extensiones a las huellas ambientales (y sociales)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CB7EF6D-377C-7312-B2FD-74CEB5B188ED}"/>
              </a:ext>
            </a:extLst>
          </p:cNvPr>
          <p:cNvSpPr txBox="1"/>
          <p:nvPr/>
        </p:nvSpPr>
        <p:spPr>
          <a:xfrm>
            <a:off x="1402080" y="1097436"/>
            <a:ext cx="9377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~45’ </a:t>
            </a:r>
            <a:r>
              <a:rPr lang="es-ES" sz="2800" b="1" dirty="0">
                <a:solidFill>
                  <a:srgbClr val="0070C0"/>
                </a:solidFill>
              </a:rPr>
              <a:t>Sesión 0. Motivación, panorámica general (</a:t>
            </a:r>
            <a:r>
              <a:rPr lang="es-ES" sz="2800" b="1" dirty="0" err="1">
                <a:solidFill>
                  <a:srgbClr val="0070C0"/>
                </a:solidFill>
              </a:rPr>
              <a:t>micro-macro</a:t>
            </a:r>
            <a:r>
              <a:rPr lang="es-ES" sz="2800" b="1" dirty="0">
                <a:solidFill>
                  <a:srgbClr val="0070C0"/>
                </a:solidFill>
              </a:rPr>
              <a:t>), retos, soluciones generales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5FA7536-67E9-68AB-6E4D-0265E10EF39D}"/>
              </a:ext>
            </a:extLst>
          </p:cNvPr>
          <p:cNvCxnSpPr/>
          <p:nvPr/>
        </p:nvCxnSpPr>
        <p:spPr>
          <a:xfrm flipH="1" flipV="1">
            <a:off x="640080" y="1814049"/>
            <a:ext cx="590730" cy="58371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735AFA6-4DBB-D5AB-6EC3-4854B1EC2744}"/>
              </a:ext>
            </a:extLst>
          </p:cNvPr>
          <p:cNvCxnSpPr>
            <a:cxnSpLocks/>
          </p:cNvCxnSpPr>
          <p:nvPr/>
        </p:nvCxnSpPr>
        <p:spPr>
          <a:xfrm flipH="1">
            <a:off x="625565" y="1292304"/>
            <a:ext cx="619760" cy="56436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68409CF-59F3-DA4C-FB79-E506474CC6F2}"/>
              </a:ext>
            </a:extLst>
          </p:cNvPr>
          <p:cNvCxnSpPr/>
          <p:nvPr/>
        </p:nvCxnSpPr>
        <p:spPr>
          <a:xfrm flipH="1" flipV="1">
            <a:off x="640080" y="3950745"/>
            <a:ext cx="590730" cy="58371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C5B5125-8961-57FF-D105-0429E1BC586B}"/>
              </a:ext>
            </a:extLst>
          </p:cNvPr>
          <p:cNvCxnSpPr>
            <a:cxnSpLocks/>
          </p:cNvCxnSpPr>
          <p:nvPr/>
        </p:nvCxnSpPr>
        <p:spPr>
          <a:xfrm flipH="1">
            <a:off x="625565" y="3429000"/>
            <a:ext cx="619760" cy="56436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8FDBAF9-21A8-3F22-4DE9-9EA27E504609}"/>
              </a:ext>
            </a:extLst>
          </p:cNvPr>
          <p:cNvSpPr txBox="1"/>
          <p:nvPr/>
        </p:nvSpPr>
        <p:spPr>
          <a:xfrm>
            <a:off x="1524000" y="6087001"/>
            <a:ext cx="9387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~30’ </a:t>
            </a:r>
            <a:r>
              <a:rPr lang="es-ES" sz="2800" b="1" dirty="0">
                <a:solidFill>
                  <a:srgbClr val="0070C0"/>
                </a:solidFill>
              </a:rPr>
              <a:t>Sesión Final de Debate/Aplicaciones posibles, etc. 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85366ED-9B95-E703-2BC8-577F545B058E}"/>
              </a:ext>
            </a:extLst>
          </p:cNvPr>
          <p:cNvCxnSpPr/>
          <p:nvPr/>
        </p:nvCxnSpPr>
        <p:spPr>
          <a:xfrm flipH="1" flipV="1">
            <a:off x="654595" y="5805256"/>
            <a:ext cx="590730" cy="58371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E35D158-A17C-697F-26F3-C2E29D60B91A}"/>
              </a:ext>
            </a:extLst>
          </p:cNvPr>
          <p:cNvCxnSpPr>
            <a:cxnSpLocks/>
          </p:cNvCxnSpPr>
          <p:nvPr/>
        </p:nvCxnSpPr>
        <p:spPr>
          <a:xfrm flipH="1">
            <a:off x="640080" y="5283511"/>
            <a:ext cx="619760" cy="56436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90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ítulo 2">
            <a:extLst>
              <a:ext uri="{FF2B5EF4-FFF2-40B4-BE49-F238E27FC236}">
                <a16:creationId xmlns:a16="http://schemas.microsoft.com/office/drawing/2014/main" id="{7BD38F66-C6C1-9E4D-8C5D-6903303EB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211" y="1124284"/>
            <a:ext cx="10775576" cy="718090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36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Curso: Integración de microdatos de consumo de hogares en modelos input-output</a:t>
            </a:r>
            <a:endParaRPr lang="es-ES" sz="3600" b="1" dirty="0">
              <a:solidFill>
                <a:srgbClr val="11B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9F83DED-72BE-6248-A9F4-6C3BCCB94F6C}"/>
              </a:ext>
            </a:extLst>
          </p:cNvPr>
          <p:cNvSpPr/>
          <p:nvPr/>
        </p:nvSpPr>
        <p:spPr>
          <a:xfrm>
            <a:off x="1524001" y="6312624"/>
            <a:ext cx="9144001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Roboto Condensed Light"/>
                <a:cs typeface="Roboto Condensed Light"/>
              </a:rPr>
              <a:t>14-17 June 2022, Pisa, Italy</a:t>
            </a:r>
          </a:p>
        </p:txBody>
      </p:sp>
      <p:sp>
        <p:nvSpPr>
          <p:cNvPr id="14" name="8 Rectángulo">
            <a:extLst>
              <a:ext uri="{FF2B5EF4-FFF2-40B4-BE49-F238E27FC236}">
                <a16:creationId xmlns:a16="http://schemas.microsoft.com/office/drawing/2014/main" id="{319D52C6-3EFA-794B-8084-56D313FAC1A9}"/>
              </a:ext>
            </a:extLst>
          </p:cNvPr>
          <p:cNvSpPr/>
          <p:nvPr/>
        </p:nvSpPr>
        <p:spPr>
          <a:xfrm>
            <a:off x="1164770" y="2141360"/>
            <a:ext cx="9601200" cy="676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800" b="1" dirty="0">
                <a:solidFill>
                  <a:srgbClr val="C00000"/>
                </a:solidFill>
                <a:cs typeface="Times New Roman" panose="02020603050405020304" pitchFamily="18" charset="0"/>
              </a:rPr>
              <a:t>Sesión I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80A6612-0C48-1D1B-EF45-FB3160AD7EDA}"/>
              </a:ext>
            </a:extLst>
          </p:cNvPr>
          <p:cNvSpPr txBox="1">
            <a:spLocks/>
          </p:cNvSpPr>
          <p:nvPr/>
        </p:nvSpPr>
        <p:spPr>
          <a:xfrm>
            <a:off x="1850570" y="315184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400"/>
            </a:pPr>
            <a:r>
              <a:rPr lang="es-ES" sz="8000" dirty="0">
                <a:solidFill>
                  <a:srgbClr val="FF0000"/>
                </a:solidFill>
              </a:rPr>
              <a:t>Sesión 0-1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E388B57-3EAA-D550-7835-427EA25618CD}"/>
              </a:ext>
            </a:extLst>
          </p:cNvPr>
          <p:cNvSpPr/>
          <p:nvPr/>
        </p:nvSpPr>
        <p:spPr>
          <a:xfrm>
            <a:off x="9753327" y="5928080"/>
            <a:ext cx="1829348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22 de Junio 2026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D260C01-399F-DCAB-B2BB-D01A10DDD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38" y="5015627"/>
            <a:ext cx="1567070" cy="1469128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B05BDC31-9A36-94C1-4785-4854599967EF}"/>
              </a:ext>
            </a:extLst>
          </p:cNvPr>
          <p:cNvSpPr/>
          <p:nvPr/>
        </p:nvSpPr>
        <p:spPr>
          <a:xfrm>
            <a:off x="2862581" y="4638031"/>
            <a:ext cx="6096000" cy="21913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s-ES" b="1" dirty="0"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SHAIO</a:t>
            </a:r>
            <a:endParaRPr lang="en-GB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s-ES" b="1" dirty="0"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Escuela de Análisis Input-Output</a:t>
            </a:r>
            <a:endParaRPr lang="en-GB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b="1" dirty="0"/>
              <a:t>32</a:t>
            </a:r>
            <a:r>
              <a:rPr lang="es-ES" b="1" baseline="30000" dirty="0"/>
              <a:t>nd</a:t>
            </a:r>
            <a:r>
              <a:rPr lang="es-ES" b="1" dirty="0"/>
              <a:t> International Input-Output </a:t>
            </a:r>
            <a:r>
              <a:rPr lang="es-ES" b="1" dirty="0" err="1"/>
              <a:t>Association</a:t>
            </a:r>
            <a:r>
              <a:rPr lang="es-ES" b="1" dirty="0"/>
              <a:t> </a:t>
            </a:r>
            <a:r>
              <a:rPr lang="es-ES" b="1" dirty="0" err="1"/>
              <a:t>Conference</a:t>
            </a:r>
            <a:br>
              <a:rPr lang="es-ES" b="1" dirty="0"/>
            </a:br>
            <a:r>
              <a:rPr lang="es-ES" b="1" dirty="0"/>
              <a:t>14</a:t>
            </a:r>
            <a:r>
              <a:rPr lang="es-ES" b="1" baseline="30000" dirty="0"/>
              <a:t>th</a:t>
            </a:r>
            <a:r>
              <a:rPr lang="es-ES" b="1" dirty="0"/>
              <a:t> </a:t>
            </a:r>
            <a:r>
              <a:rPr lang="es-ES" b="1" dirty="0" err="1"/>
              <a:t>Edition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International School </a:t>
            </a:r>
            <a:r>
              <a:rPr lang="es-ES" b="1" dirty="0" err="1"/>
              <a:t>of</a:t>
            </a:r>
            <a:r>
              <a:rPr lang="es-ES" b="1" dirty="0"/>
              <a:t> I-O </a:t>
            </a:r>
            <a:r>
              <a:rPr lang="es-ES" b="1" dirty="0" err="1"/>
              <a:t>Analysis</a:t>
            </a:r>
            <a:br>
              <a:rPr lang="es-ES" b="1" dirty="0"/>
            </a:br>
            <a:r>
              <a:rPr lang="es-ES" b="1" dirty="0"/>
              <a:t>11</a:t>
            </a:r>
            <a:r>
              <a:rPr lang="es-ES" b="1" baseline="30000" dirty="0"/>
              <a:t>th</a:t>
            </a:r>
            <a:r>
              <a:rPr lang="es-ES" b="1" dirty="0"/>
              <a:t> Jornadas de Análisis Input Output</a:t>
            </a:r>
            <a:br>
              <a:rPr lang="es-ES" b="1" dirty="0"/>
            </a:br>
            <a:r>
              <a:rPr lang="es-ES" b="1" dirty="0"/>
              <a:t>22</a:t>
            </a:r>
            <a:r>
              <a:rPr lang="es-ES" b="1" baseline="30000" dirty="0"/>
              <a:t>nd</a:t>
            </a:r>
            <a:r>
              <a:rPr lang="es-ES" b="1" dirty="0"/>
              <a:t> - 26</a:t>
            </a:r>
            <a:r>
              <a:rPr lang="es-ES" b="1" baseline="30000" dirty="0"/>
              <a:t>th</a:t>
            </a:r>
            <a:r>
              <a:rPr lang="es-ES" b="1" dirty="0"/>
              <a:t> June 2026, Seville, Spain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633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F6F9959-C9AF-0C48-2821-4D4BFF6DF14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707640" y="829945"/>
            <a:ext cx="719836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6000" b="1" kern="1200" dirty="0">
                <a:solidFill>
                  <a:srgbClr val="3F535B"/>
                </a:solidFill>
                <a:latin typeface="+mj-lt"/>
                <a:ea typeface="+mj-ea"/>
                <a:cs typeface="+mj-cs"/>
              </a:rPr>
              <a:t>Micro-Macro General</a:t>
            </a:r>
          </a:p>
        </p:txBody>
      </p:sp>
    </p:spTree>
    <p:extLst>
      <p:ext uri="{BB962C8B-B14F-4D97-AF65-F5344CB8AC3E}">
        <p14:creationId xmlns:p14="http://schemas.microsoft.com/office/powerpoint/2010/main" val="705942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4B967-2DAB-CC1A-B335-E78AFDDE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C0C295D-3EE9-9D48-D24D-3AD3F5206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D10317-DF0C-1A45-B59B-B415ED526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5A4787-C14B-4F25-06A4-96E7F30C9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BF8A57-2ED0-0AA6-E705-BA4819A04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415385-84BE-27CB-156C-8829B8E77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9D7830-C7EF-819A-195F-5F20FA603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95B05E0-7264-BD04-EF8D-D6213829131E}"/>
              </a:ext>
            </a:extLst>
          </p:cNvPr>
          <p:cNvSpPr txBox="1"/>
          <p:nvPr/>
        </p:nvSpPr>
        <p:spPr>
          <a:xfrm>
            <a:off x="986592" y="-66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653C1A0-1CAB-8D55-FCEB-48E0AA108E5C}"/>
              </a:ext>
            </a:extLst>
          </p:cNvPr>
          <p:cNvSpPr txBox="1"/>
          <p:nvPr/>
        </p:nvSpPr>
        <p:spPr>
          <a:xfrm>
            <a:off x="337482" y="963839"/>
            <a:ext cx="11194170" cy="41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800" b="1" dirty="0">
                <a:solidFill>
                  <a:srgbClr val="40F6E9"/>
                </a:solidFill>
                <a:effectLst/>
                <a:latin typeface="quote-cjk-patch"/>
              </a:rPr>
              <a:t> ¿Por qué integrar microdatos y contabilidad nacional? interés y utilidades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4E66F06-C3B2-0656-C962-3754E15D7FDB}"/>
              </a:ext>
            </a:extLst>
          </p:cNvPr>
          <p:cNvSpPr txBox="1"/>
          <p:nvPr/>
        </p:nvSpPr>
        <p:spPr>
          <a:xfrm>
            <a:off x="165635" y="1661350"/>
            <a:ext cx="11860725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 Análisis distribucional de la renta, el consumo y la riqueza</a:t>
            </a:r>
            <a:b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Permite ajustar los microdatos a los totales macro y construir cuentas nacionales distributivas (DINA,  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Distributional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National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Accounts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,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Piketty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Saez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y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Zucman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, 2018)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entre los distintos deciles de renta.</a:t>
            </a:r>
            <a:endParaRPr lang="es-E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 Matrices de contabilidad social (</a:t>
            </a:r>
            <a:r>
              <a:rPr lang="es-ES" b="1" i="0" dirty="0">
                <a:solidFill>
                  <a:srgbClr val="0070C0"/>
                </a:solidFill>
                <a:effectLst/>
                <a:latin typeface="quote-cjk-patch"/>
              </a:rPr>
              <a:t>MCS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) con hogares heterogéneos, y para modelos derivados (</a:t>
            </a:r>
            <a:r>
              <a:rPr lang="es-ES" b="1" i="0" dirty="0">
                <a:solidFill>
                  <a:srgbClr val="0070C0"/>
                </a:solidFill>
                <a:effectLst/>
                <a:latin typeface="quote-cjk-patch"/>
              </a:rPr>
              <a:t>CGE, HANK, </a:t>
            </a:r>
            <a:r>
              <a:rPr lang="es-ES" b="1" i="0" dirty="0" err="1">
                <a:solidFill>
                  <a:srgbClr val="0070C0"/>
                </a:solidFill>
                <a:effectLst/>
                <a:latin typeface="quote-cjk-patch"/>
              </a:rPr>
              <a:t>DSGEs</a:t>
            </a:r>
            <a:r>
              <a:rPr lang="es-ES" b="1" i="0" dirty="0">
                <a:solidFill>
                  <a:srgbClr val="0070C0"/>
                </a:solidFill>
                <a:effectLst/>
                <a:latin typeface="quote-cjk-patch"/>
              </a:rPr>
              <a:t>, IAMs…)</a:t>
            </a:r>
            <a:b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Las 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MCS/SAM e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xtienden TIO con sectores institucionales desagregados, permite simulaciones de políticas fiscales y sociales.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 Evaluación de políticas públicas</a:t>
            </a:r>
            <a:b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dirty="0">
                <a:solidFill>
                  <a:srgbClr val="0F1115"/>
                </a:solidFill>
                <a:latin typeface="quote-cjk-patch"/>
              </a:rPr>
              <a:t>M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odelos de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microsimulación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(p.ej., EUROMOD) se calibran con totales macro para simular reformas impositivas y de prestaciones sobre población representativa, asegurando coherencia. 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Larga tradición en Inst.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Nac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. comparación ingresos, consumo y riqueza de los hogares, según fuentes micro y macro de cuentas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nac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. 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Fesseau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, Wolff y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Mattonetti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, 2013).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 Análisis de aspectos clave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micro-macroeconómicos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e.g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. productividad y mercado laboral</a:t>
            </a:r>
            <a:b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La integración de la EPA (encuesta de población activa) y encuestas industriales con las tablas de origen y destino permite estudiar la productividad sectorial teniendo en cuenta las características de los trabajadores (OCDE, 2013).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 Huellas ambientales por nivel de ingreso u otra heterogeneidad</a:t>
            </a:r>
            <a:br>
              <a:rPr lang="es-ES" dirty="0">
                <a:solidFill>
                  <a:srgbClr val="0F1115"/>
                </a:solidFill>
                <a:latin typeface="quote-cjk-patch"/>
              </a:rPr>
            </a:br>
            <a:r>
              <a:rPr lang="es-ES" dirty="0">
                <a:solidFill>
                  <a:srgbClr val="0F1115"/>
                </a:solidFill>
                <a:latin typeface="quote-cjk-patch"/>
              </a:rPr>
              <a:t>Al unir las cestas de consumo de las encuestas de presupuestos familiares (EPF) con las TIO ampliadas con cuentas ambientales, se calculan las huellas de carbono, materiales o hídricas por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e.g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. decil de gasto (Eurostat, 2020b).</a:t>
            </a:r>
          </a:p>
        </p:txBody>
      </p:sp>
    </p:spTree>
    <p:extLst>
      <p:ext uri="{BB962C8B-B14F-4D97-AF65-F5344CB8AC3E}">
        <p14:creationId xmlns:p14="http://schemas.microsoft.com/office/powerpoint/2010/main" val="142246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A8B27-C5A4-16B6-5AC7-1E11955B6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098BB48-AB14-5FCF-D780-2DB3E67C3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3E3E49-EC23-4AB1-23C3-D4A5D8DC7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E25665-2AF6-1937-4F3F-763131F76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CC0BCA-069E-8539-006D-01932D63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FAD33D-8224-CAC9-10AF-ED6EF7A96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ABC49-6A8E-BE04-BB95-1B3B828EF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A9654B-027D-2DA7-21A5-F7BBFD943BA3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1058A83-8BAB-B62F-C543-4D48F2E38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957231"/>
              </p:ext>
            </p:extLst>
          </p:nvPr>
        </p:nvGraphicFramePr>
        <p:xfrm>
          <a:off x="116959" y="84830"/>
          <a:ext cx="11919096" cy="6782655"/>
        </p:xfrm>
        <a:graphic>
          <a:graphicData uri="http://schemas.openxmlformats.org/drawingml/2006/table">
            <a:tbl>
              <a:tblPr/>
              <a:tblGrid>
                <a:gridCol w="3973032">
                  <a:extLst>
                    <a:ext uri="{9D8B030D-6E8A-4147-A177-3AD203B41FA5}">
                      <a16:colId xmlns:a16="http://schemas.microsoft.com/office/drawing/2014/main" val="4060336974"/>
                    </a:ext>
                  </a:extLst>
                </a:gridCol>
                <a:gridCol w="3973032">
                  <a:extLst>
                    <a:ext uri="{9D8B030D-6E8A-4147-A177-3AD203B41FA5}">
                      <a16:colId xmlns:a16="http://schemas.microsoft.com/office/drawing/2014/main" val="2108130638"/>
                    </a:ext>
                  </a:extLst>
                </a:gridCol>
                <a:gridCol w="3973032">
                  <a:extLst>
                    <a:ext uri="{9D8B030D-6E8A-4147-A177-3AD203B41FA5}">
                      <a16:colId xmlns:a16="http://schemas.microsoft.com/office/drawing/2014/main" val="3164618835"/>
                    </a:ext>
                  </a:extLst>
                </a:gridCol>
              </a:tblGrid>
              <a:tr h="35499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ES" sz="1800" b="1">
                          <a:effectLst/>
                          <a:latin typeface="quote-cjk-patch"/>
                        </a:rPr>
                        <a:t>Encuesta (acrónimo)</a:t>
                      </a: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ES" sz="1800" b="1" dirty="0">
                          <a:effectLst/>
                          <a:latin typeface="quote-cjk-patch"/>
                        </a:rPr>
                        <a:t>Contenido clave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ES" sz="1800" b="1" dirty="0">
                          <a:effectLst/>
                          <a:latin typeface="quote-cjk-patch"/>
                        </a:rPr>
                        <a:t>Vinculación con las TIO/CN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46856"/>
                  </a:ext>
                </a:extLst>
              </a:tr>
              <a:tr h="6872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1" dirty="0">
                          <a:effectLst/>
                          <a:latin typeface="quote-cjk-patch"/>
                        </a:rPr>
                        <a:t>Encuesta de Presupuestos Familiares (EPF / HBS)</a:t>
                      </a:r>
                      <a:endParaRPr lang="es-ES" sz="1800" b="0" dirty="0">
                        <a:effectLst/>
                        <a:latin typeface="quote-cjk-patch"/>
                      </a:endParaRP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Gasto de los hogares según COICOP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 dirty="0">
                          <a:effectLst/>
                          <a:latin typeface="quote-cjk-patch"/>
                        </a:rPr>
                        <a:t>Consumo final de los hogares (P.3)</a:t>
                      </a: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358641"/>
                  </a:ext>
                </a:extLst>
              </a:tr>
              <a:tr h="8533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1">
                          <a:effectLst/>
                          <a:latin typeface="quote-cjk-patch"/>
                        </a:rPr>
                        <a:t>EU-SILC</a:t>
                      </a:r>
                      <a:r>
                        <a:rPr lang="es-ES" sz="1800" b="0">
                          <a:effectLst/>
                          <a:latin typeface="quote-cjk-patch"/>
                        </a:rPr>
                        <a:t> (Estadísticas de renta y condiciones de vida)</a:t>
                      </a: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Renta disponible, pobreza, privación material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Distribución de la renta, ajuste de la renta mixta</a:t>
                      </a: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777925"/>
                  </a:ext>
                </a:extLst>
              </a:tr>
              <a:tr h="6872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1" dirty="0">
                          <a:effectLst/>
                          <a:latin typeface="quote-cjk-patch"/>
                        </a:rPr>
                        <a:t>HFCS</a:t>
                      </a:r>
                      <a:r>
                        <a:rPr lang="es-ES" sz="1800" b="0" dirty="0">
                          <a:effectLst/>
                          <a:latin typeface="quote-cjk-patch"/>
                        </a:rPr>
                        <a:t> (Encuesta financiera y de consumo de los hogares)</a:t>
                      </a: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 dirty="0">
                          <a:effectLst/>
                          <a:latin typeface="quote-cjk-patch"/>
                        </a:rPr>
                        <a:t>Riqueza neta, activos y deudas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Cuentas de balance de los hogares en SEC 2010</a:t>
                      </a: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147336"/>
                  </a:ext>
                </a:extLst>
              </a:tr>
              <a:tr h="7677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1" dirty="0">
                          <a:effectLst/>
                          <a:latin typeface="quote-cjk-patch"/>
                        </a:rPr>
                        <a:t>LFS</a:t>
                      </a:r>
                      <a:r>
                        <a:rPr lang="es-ES" sz="1800" b="0" dirty="0">
                          <a:effectLst/>
                          <a:latin typeface="quote-cjk-patch"/>
                        </a:rPr>
                        <a:t> (Encuesta de población activa / EPA)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800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Eurofound's</a:t>
                      </a:r>
                      <a:r>
                        <a:rPr lang="en-GB" sz="180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European Working Conditions Survey (EWCS) </a:t>
                      </a:r>
                      <a:endParaRPr lang="es-ES" sz="1800" b="0" dirty="0">
                        <a:solidFill>
                          <a:srgbClr val="0070C0"/>
                        </a:solidFill>
                        <a:effectLst/>
                        <a:latin typeface="quote-cjk-patch"/>
                      </a:endParaRP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 dirty="0">
                          <a:effectLst/>
                          <a:latin typeface="quote-cjk-patch"/>
                        </a:rPr>
                        <a:t>Empleo, horas trabajadas, sector de actividad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Input de trabajo por rama, productividad</a:t>
                      </a: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780002"/>
                  </a:ext>
                </a:extLst>
              </a:tr>
              <a:tr h="6872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1">
                          <a:effectLst/>
                          <a:latin typeface="quote-cjk-patch"/>
                        </a:rPr>
                        <a:t>SES</a:t>
                      </a:r>
                      <a:r>
                        <a:rPr lang="es-ES" sz="1800" b="0">
                          <a:effectLst/>
                          <a:latin typeface="quote-cjk-patch"/>
                        </a:rPr>
                        <a:t> (Encuesta cuatrienal de estructura salarial)</a:t>
                      </a: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Salarios por hora, características del empleo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Remuneración de asalariados, cuña salarial</a:t>
                      </a: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48851"/>
                  </a:ext>
                </a:extLst>
              </a:tr>
              <a:tr h="53180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1">
                          <a:effectLst/>
                          <a:latin typeface="quote-cjk-patch"/>
                        </a:rPr>
                        <a:t>SBS</a:t>
                      </a:r>
                      <a:r>
                        <a:rPr lang="es-ES" sz="1800" b="0">
                          <a:effectLst/>
                          <a:latin typeface="quote-cjk-patch"/>
                        </a:rPr>
                        <a:t> (Estadísticas estructurales de empresas)</a:t>
                      </a: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Producción, valor añadido, empleo por rama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Ajuste de los márgenes empresariales</a:t>
                      </a: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461508"/>
                  </a:ext>
                </a:extLst>
              </a:tr>
              <a:tr h="53180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1" dirty="0">
                          <a:effectLst/>
                          <a:latin typeface="quote-cjk-patch"/>
                        </a:rPr>
                        <a:t>CIS</a:t>
                      </a:r>
                      <a:r>
                        <a:rPr lang="es-ES" sz="1800" b="0" dirty="0">
                          <a:effectLst/>
                          <a:latin typeface="quote-cjk-patch"/>
                        </a:rPr>
                        <a:t> (Encuesta comunitaria de innovación)</a:t>
                      </a: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Gasto en I+D, innovación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Ampliación de las TIO con activos intangibles</a:t>
                      </a: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497878"/>
                  </a:ext>
                </a:extLst>
              </a:tr>
              <a:tr h="5211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1">
                          <a:effectLst/>
                          <a:latin typeface="quote-cjk-patch"/>
                        </a:rPr>
                        <a:t>EHIS</a:t>
                      </a:r>
                      <a:r>
                        <a:rPr lang="es-ES" sz="1800" b="0">
                          <a:effectLst/>
                          <a:latin typeface="quote-cjk-patch"/>
                        </a:rPr>
                        <a:t> (Encuesta europea de salud)</a:t>
                      </a: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Estado de salud, gasto sanitario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Consumo de servicios de salud por hogar</a:t>
                      </a: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75637"/>
                  </a:ext>
                </a:extLst>
              </a:tr>
              <a:tr h="5340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1" dirty="0">
                          <a:effectLst/>
                          <a:latin typeface="quote-cjk-patch"/>
                        </a:rPr>
                        <a:t>TUS/</a:t>
                      </a:r>
                      <a:r>
                        <a:rPr lang="it-I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HETUS</a:t>
                      </a:r>
                      <a:r>
                        <a:rPr lang="es-ES" sz="1800" b="0" dirty="0">
                          <a:effectLst/>
                          <a:latin typeface="quote-cjk-patch"/>
                        </a:rPr>
                        <a:t> (Encuesta de empleo del tiempo)</a:t>
                      </a: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>
                          <a:effectLst/>
                          <a:latin typeface="quote-cjk-patch"/>
                        </a:rPr>
                        <a:t>Uso del tiempo, trabajo doméstico no remunerado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 dirty="0">
                          <a:effectLst/>
                          <a:latin typeface="quote-cjk-patch"/>
                        </a:rPr>
                        <a:t>Cuentas satélite de </a:t>
                      </a:r>
                      <a:r>
                        <a:rPr lang="es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producción de los hogares</a:t>
                      </a:r>
                      <a:endParaRPr lang="es-ES" sz="1800" b="0" dirty="0">
                        <a:effectLst/>
                        <a:latin typeface="quote-cjk-patch"/>
                      </a:endParaRP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149810"/>
                  </a:ext>
                </a:extLst>
              </a:tr>
              <a:tr h="53180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400" b="0" dirty="0">
                          <a:solidFill>
                            <a:srgbClr val="0070C0"/>
                          </a:solidFill>
                          <a:effectLst/>
                          <a:latin typeface="quote-cjk-patch"/>
                        </a:rPr>
                        <a:t>Transport and Mobility surveys (Eurobarometer), </a:t>
                      </a:r>
                      <a:r>
                        <a:rPr lang="en-GB" sz="140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Demographic data (Eurostat)</a:t>
                      </a:r>
                      <a:endParaRPr lang="es-ES" sz="1400" b="0" dirty="0">
                        <a:solidFill>
                          <a:srgbClr val="0070C0"/>
                        </a:solidFill>
                        <a:effectLst/>
                        <a:latin typeface="quote-cjk-patch"/>
                      </a:endParaRPr>
                    </a:p>
                  </a:txBody>
                  <a:tcPr marL="39910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 dirty="0">
                          <a:effectLst/>
                          <a:latin typeface="quote-cjk-patch"/>
                        </a:rPr>
                        <a:t>estadísticas de transporte y energía</a:t>
                      </a:r>
                    </a:p>
                  </a:txBody>
                  <a:tcPr marL="53214" marR="53214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sz="1800" b="0" dirty="0">
                          <a:effectLst/>
                          <a:latin typeface="quote-cjk-patch"/>
                        </a:rPr>
                        <a:t>Relación con el consumo final de los hogares (en otras unidades), sectores…</a:t>
                      </a:r>
                    </a:p>
                  </a:txBody>
                  <a:tcPr marL="53214" marR="39910" marT="33259" marB="332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72944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8404A49D-908B-4A7E-3474-2F89E7B91E22}"/>
              </a:ext>
            </a:extLst>
          </p:cNvPr>
          <p:cNvSpPr/>
          <p:nvPr/>
        </p:nvSpPr>
        <p:spPr>
          <a:xfrm>
            <a:off x="-1" y="84830"/>
            <a:ext cx="12191997" cy="3926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4BE13C7-CADC-689B-9224-101F81C3BBDB}"/>
              </a:ext>
            </a:extLst>
          </p:cNvPr>
          <p:cNvSpPr/>
          <p:nvPr/>
        </p:nvSpPr>
        <p:spPr>
          <a:xfrm>
            <a:off x="116960" y="484765"/>
            <a:ext cx="11919096" cy="706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232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AD551-8FF9-6ED5-D26A-156FC816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291C6C5-9821-66C8-81E7-EA2F5DD05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DD06DE-4878-808D-1384-EB065C6BE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B50A16-29DB-17BD-952F-6B547AC8D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F643EB-11D4-958C-51E3-2BE89C49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2F82BD-98E1-D9A3-8E41-7B9EFFDB6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E01D4A-7090-8C76-37E7-F7A73EE02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93AC852-A6C9-A12E-839F-C06149A88C3C}"/>
              </a:ext>
            </a:extLst>
          </p:cNvPr>
          <p:cNvSpPr txBox="1"/>
          <p:nvPr/>
        </p:nvSpPr>
        <p:spPr>
          <a:xfrm>
            <a:off x="986592" y="-66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F03C81-400C-56EB-5CCA-F829445D9AC8}"/>
              </a:ext>
            </a:extLst>
          </p:cNvPr>
          <p:cNvSpPr txBox="1"/>
          <p:nvPr/>
        </p:nvSpPr>
        <p:spPr>
          <a:xfrm>
            <a:off x="337482" y="963839"/>
            <a:ext cx="11194170" cy="41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800" b="1" dirty="0">
                <a:solidFill>
                  <a:srgbClr val="40F6E9"/>
                </a:solidFill>
                <a:effectLst/>
                <a:latin typeface="quote-cjk-patch"/>
              </a:rPr>
              <a:t>Política fiscal </a:t>
            </a:r>
            <a:r>
              <a:rPr lang="es-ES" sz="2800" b="1" dirty="0">
                <a:solidFill>
                  <a:schemeClr val="bg1"/>
                </a:solidFill>
                <a:effectLst/>
                <a:latin typeface="quote-cjk-patch"/>
              </a:rPr>
              <a:t>(IRPF, IVA, prestaciones sociales)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C94428-2ED8-7932-3516-5EBB3EEC83A3}"/>
              </a:ext>
            </a:extLst>
          </p:cNvPr>
          <p:cNvSpPr txBox="1"/>
          <p:nvPr/>
        </p:nvSpPr>
        <p:spPr>
          <a:xfrm>
            <a:off x="119018" y="1722821"/>
            <a:ext cx="1207298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EU‑SILC y modelos de </a:t>
            </a:r>
            <a:r>
              <a:rPr lang="es-ES" sz="2400" dirty="0" err="1"/>
              <a:t>microsimulación</a:t>
            </a:r>
            <a:r>
              <a:rPr lang="es-ES" sz="2400" dirty="0"/>
              <a:t> (EUROMOD) c</a:t>
            </a:r>
            <a:r>
              <a:rPr lang="es-ES" sz="2400" u="sng" dirty="0"/>
              <a:t>aptan el detalle de prestaciones e impuestos por hogar</a:t>
            </a:r>
            <a:r>
              <a:rPr lang="es-ES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Integrados con la SAM, permiten evaluar el </a:t>
            </a:r>
            <a:r>
              <a:rPr lang="es-ES" sz="2400" b="1" dirty="0"/>
              <a:t>multiplicador fiscal diferenciado</a:t>
            </a:r>
            <a:r>
              <a:rPr lang="es-ES" sz="2400" dirty="0"/>
              <a:t> según el decil que recibe la transferencia.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Blanchet, </a:t>
            </a:r>
            <a:r>
              <a:rPr lang="es-ES" sz="2400" dirty="0" err="1"/>
              <a:t>Chancel</a:t>
            </a:r>
            <a:r>
              <a:rPr lang="es-ES" sz="2400" dirty="0"/>
              <a:t> y </a:t>
            </a:r>
            <a:r>
              <a:rPr lang="es-ES" sz="2400" dirty="0" err="1"/>
              <a:t>Gethin</a:t>
            </a:r>
            <a:r>
              <a:rPr lang="es-ES" sz="2400" dirty="0"/>
              <a:t> (2022) muestran que </a:t>
            </a:r>
            <a:r>
              <a:rPr lang="es-ES" sz="2400" u="sng" dirty="0"/>
              <a:t>el diseño de la progresividad fiscal </a:t>
            </a:r>
            <a:r>
              <a:rPr lang="es-ES" sz="2400" dirty="0"/>
              <a:t>no puede ignorar la </a:t>
            </a:r>
            <a:r>
              <a:rPr lang="es-ES" sz="2400" u="sng" dirty="0"/>
              <a:t>distribución conjunta de renta y riqueza, que solo se obtiene fusionando SILC, EPF y HFCS</a:t>
            </a:r>
            <a:r>
              <a:rPr lang="es-ES" sz="2400" dirty="0"/>
              <a:t>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D345F8-CC03-964C-2D84-531F5CBE50BC}"/>
              </a:ext>
            </a:extLst>
          </p:cNvPr>
          <p:cNvSpPr txBox="1"/>
          <p:nvPr/>
        </p:nvSpPr>
        <p:spPr>
          <a:xfrm>
            <a:off x="361755" y="4890519"/>
            <a:ext cx="11830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Ventaja clave para los modelos (IO, y derivados)</a:t>
            </a:r>
          </a:p>
          <a:p>
            <a:endParaRPr lang="es-ES" sz="1000" dirty="0"/>
          </a:p>
          <a:p>
            <a:pPr lvl="1"/>
            <a:r>
              <a:rPr lang="es-ES" sz="2400" dirty="0"/>
              <a:t>Multiplicadores fiscales y monetarios sensibles a la distribución.</a:t>
            </a:r>
          </a:p>
          <a:p>
            <a:pPr lvl="1"/>
            <a:r>
              <a:rPr lang="es-ES" sz="2400" dirty="0"/>
              <a:t>Impacto ambiental diferenciado por nivel de renta.</a:t>
            </a:r>
          </a:p>
          <a:p>
            <a:pPr lvl="1"/>
            <a:r>
              <a:rPr lang="es-ES" sz="2400" dirty="0"/>
              <a:t>Evaluación realista de reformas del mercado laboral y del salario mínimo.</a:t>
            </a:r>
          </a:p>
        </p:txBody>
      </p:sp>
    </p:spTree>
    <p:extLst>
      <p:ext uri="{BB962C8B-B14F-4D97-AF65-F5344CB8AC3E}">
        <p14:creationId xmlns:p14="http://schemas.microsoft.com/office/powerpoint/2010/main" val="387985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58ED3-DF94-E985-96D6-3852E4F8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A967E23-2D5B-7A91-B820-1970794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C4B189-BC77-74F2-BDD7-E6E7433BA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6A92D0-D1D1-2CDF-970E-D0A1F047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F25739-9EA5-825D-64AB-9A7E81817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DE827-AB9B-8B1D-1EB6-2B9D0B093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EDC2DC-90A0-C4D0-CC93-452035B0E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DB6487-372A-18D5-F4E6-314DB64112A0}"/>
              </a:ext>
            </a:extLst>
          </p:cNvPr>
          <p:cNvSpPr txBox="1"/>
          <p:nvPr/>
        </p:nvSpPr>
        <p:spPr>
          <a:xfrm>
            <a:off x="986592" y="-66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D523AC-18EF-82FA-C1B1-04FD198015CE}"/>
              </a:ext>
            </a:extLst>
          </p:cNvPr>
          <p:cNvSpPr txBox="1"/>
          <p:nvPr/>
        </p:nvSpPr>
        <p:spPr>
          <a:xfrm>
            <a:off x="459346" y="963839"/>
            <a:ext cx="11194170" cy="41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800" b="1" dirty="0">
                <a:solidFill>
                  <a:srgbClr val="40F6E9"/>
                </a:solidFill>
                <a:effectLst/>
                <a:latin typeface="quote-cjk-patch"/>
              </a:rPr>
              <a:t>Política monetaria y estabilidad financiera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CEB6840-EE1F-B3E2-ACA5-91D93FFE3B25}"/>
              </a:ext>
            </a:extLst>
          </p:cNvPr>
          <p:cNvSpPr txBox="1"/>
          <p:nvPr/>
        </p:nvSpPr>
        <p:spPr>
          <a:xfrm>
            <a:off x="59507" y="1990816"/>
            <a:ext cx="1207298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La </a:t>
            </a:r>
            <a:r>
              <a:rPr lang="es-ES" sz="2400" u="sng" dirty="0"/>
              <a:t>HFCS revela la distribución de la riqueza, la deuda y el tipo de interés </a:t>
            </a:r>
            <a:r>
              <a:rPr lang="es-ES" sz="2400" dirty="0"/>
              <a:t>soportado por cada decil.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Un </a:t>
            </a:r>
            <a:r>
              <a:rPr lang="es-ES" sz="2400" u="sng" dirty="0"/>
              <a:t>alza de tipos</a:t>
            </a:r>
            <a:r>
              <a:rPr lang="es-ES" sz="2400" dirty="0"/>
              <a:t>: los hogares deudores netos (hipotecas, préstamos al consumo) pierden más; los ahorradores netos (rentas altas) ganan. Los modelos HANK calibrados con estos microdatos muestran que la política monetaria opera a través de un canal redistributivo que afecta la demanda agregada (Auclert, 2019).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La EPF permite </a:t>
            </a:r>
            <a:r>
              <a:rPr lang="es-ES" sz="2400" u="sng" dirty="0"/>
              <a:t>distinguir entre hipotecas a tipo fijo y variable</a:t>
            </a:r>
            <a:r>
              <a:rPr lang="es-ES" sz="2400" dirty="0"/>
              <a:t>, crucial en la transmisión de choques monetarios.</a:t>
            </a:r>
          </a:p>
        </p:txBody>
      </p:sp>
    </p:spTree>
    <p:extLst>
      <p:ext uri="{BB962C8B-B14F-4D97-AF65-F5344CB8AC3E}">
        <p14:creationId xmlns:p14="http://schemas.microsoft.com/office/powerpoint/2010/main" val="402820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F2165-EEF3-2DC6-9FD3-6B4F26D4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F65344-1D4E-9B69-F157-79D3054D1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564304-72D3-CCB4-A801-C3F87517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62371E-DC02-7420-1F55-FD675D9B4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C0D283-FA0F-98A2-A6F4-64B557438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E859C5-F47A-6AA3-3644-909312D4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48BE25-57C0-6344-171B-B89B44F4D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C0114C-D226-2CCC-87C6-22C05AA5D741}"/>
              </a:ext>
            </a:extLst>
          </p:cNvPr>
          <p:cNvSpPr txBox="1"/>
          <p:nvPr/>
        </p:nvSpPr>
        <p:spPr>
          <a:xfrm>
            <a:off x="986592" y="-66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B49CF3-14A3-3BA5-E929-C53E3494681D}"/>
              </a:ext>
            </a:extLst>
          </p:cNvPr>
          <p:cNvSpPr txBox="1"/>
          <p:nvPr/>
        </p:nvSpPr>
        <p:spPr>
          <a:xfrm>
            <a:off x="337482" y="963839"/>
            <a:ext cx="11194170" cy="41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800" b="1" dirty="0">
                <a:solidFill>
                  <a:srgbClr val="40F6E9"/>
                </a:solidFill>
                <a:effectLst/>
                <a:latin typeface="quote-cjk-patch"/>
              </a:rPr>
              <a:t>Transición ecológica </a:t>
            </a:r>
            <a:r>
              <a:rPr lang="es-ES" sz="2800" b="1" dirty="0">
                <a:solidFill>
                  <a:schemeClr val="bg1"/>
                </a:solidFill>
                <a:effectLst/>
                <a:latin typeface="quote-cjk-patch"/>
              </a:rPr>
              <a:t>(impuestos al carbono, energías renovables)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32F2DB-77DF-95A2-B433-B5DA260353BE}"/>
              </a:ext>
            </a:extLst>
          </p:cNvPr>
          <p:cNvSpPr txBox="1"/>
          <p:nvPr/>
        </p:nvSpPr>
        <p:spPr>
          <a:xfrm>
            <a:off x="-314960" y="1758338"/>
            <a:ext cx="12578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La EPF + TIO con cuentas ambientales generan </a:t>
            </a:r>
            <a:r>
              <a:rPr lang="es-ES" sz="2400" b="1" dirty="0"/>
              <a:t>huellas de carbono por decil de gasto</a:t>
            </a:r>
            <a:r>
              <a:rPr lang="es-ES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Los hogares de rentas bajas gastan mayor proporción en energía y transporte → un </a:t>
            </a:r>
            <a:r>
              <a:rPr lang="es-ES" sz="2400" u="sng" dirty="0"/>
              <a:t>impuesto al carbono </a:t>
            </a:r>
            <a:r>
              <a:rPr lang="es-ES" sz="2400" dirty="0"/>
              <a:t>es regresivo si no se compensa.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Modelos CGE/HANK desagregados con microdatos </a:t>
            </a:r>
            <a:r>
              <a:rPr lang="es-ES" sz="2400" u="sng" dirty="0"/>
              <a:t>pueden simular compensaciones focalizadas </a:t>
            </a:r>
            <a:r>
              <a:rPr lang="es-ES" sz="2400" dirty="0"/>
              <a:t>(</a:t>
            </a:r>
            <a:r>
              <a:rPr lang="es-ES" sz="2400" i="1" dirty="0" err="1"/>
              <a:t>feebate</a:t>
            </a:r>
            <a:r>
              <a:rPr lang="es-ES" sz="2400" dirty="0"/>
              <a:t>, transferencias </a:t>
            </a:r>
            <a:r>
              <a:rPr lang="es-ES" sz="2400" dirty="0" err="1"/>
              <a:t>lump</a:t>
            </a:r>
            <a:r>
              <a:rPr lang="es-ES" sz="2400" dirty="0"/>
              <a:t>‑sum) y su efecto sobre la desigualdad y la actividad económica.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La LFS permite modelar la </a:t>
            </a:r>
            <a:r>
              <a:rPr lang="es-ES" sz="2400" b="1" dirty="0"/>
              <a:t>reasignación sectorial del empleo</a:t>
            </a:r>
            <a:r>
              <a:rPr lang="es-ES" sz="2400" dirty="0"/>
              <a:t> desde sectores intensivos en carbono hacia sectores verdes, identificando los trabajadores más afectados por nivel educativo y región.</a:t>
            </a:r>
          </a:p>
        </p:txBody>
      </p:sp>
    </p:spTree>
    <p:extLst>
      <p:ext uri="{BB962C8B-B14F-4D97-AF65-F5344CB8AC3E}">
        <p14:creationId xmlns:p14="http://schemas.microsoft.com/office/powerpoint/2010/main" val="165819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9B222-3E80-BB2B-54E4-0221F008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6B22C76-B419-0E9B-629E-A361DA378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E4B87C-A0F5-B0DE-3467-52C07F2FB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D40666-3B8A-A385-9932-B29A23788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7DEB1D-B1BA-40D8-BD1F-39E73F44A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C19D34-84C4-1102-325A-2D15AD306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71A3A1-A5D1-EEA6-9501-B9FB1AC81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4424F1-669C-194B-CCB6-6CE13CA0F082}"/>
              </a:ext>
            </a:extLst>
          </p:cNvPr>
          <p:cNvSpPr txBox="1"/>
          <p:nvPr/>
        </p:nvSpPr>
        <p:spPr>
          <a:xfrm>
            <a:off x="986592" y="-66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7749B0-DA76-8B3A-4B14-A20FCB21F82C}"/>
              </a:ext>
            </a:extLst>
          </p:cNvPr>
          <p:cNvSpPr txBox="1"/>
          <p:nvPr/>
        </p:nvSpPr>
        <p:spPr>
          <a:xfrm>
            <a:off x="538480" y="982257"/>
            <a:ext cx="11194170" cy="41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800" b="1" dirty="0">
                <a:solidFill>
                  <a:srgbClr val="40F6E9"/>
                </a:solidFill>
                <a:effectLst/>
                <a:latin typeface="quote-cjk-patch"/>
              </a:rPr>
              <a:t>Empleo y salario mínimo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4F20A7A-0527-B820-5AF8-1D7CAFD2432F}"/>
              </a:ext>
            </a:extLst>
          </p:cNvPr>
          <p:cNvSpPr txBox="1"/>
          <p:nvPr/>
        </p:nvSpPr>
        <p:spPr>
          <a:xfrm>
            <a:off x="119018" y="1722821"/>
            <a:ext cx="1207298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La LFS y la SES proporcionan la </a:t>
            </a:r>
            <a:r>
              <a:rPr lang="es-ES" sz="2400" u="sng" dirty="0"/>
              <a:t>estructura detallada del mercado laboral</a:t>
            </a:r>
            <a:r>
              <a:rPr lang="es-ES" sz="2400" dirty="0"/>
              <a:t>: ocupaciones, sectores, intensidad horaria, salarios por percentil.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Una </a:t>
            </a:r>
            <a:r>
              <a:rPr lang="es-ES" sz="2400" u="sng" dirty="0"/>
              <a:t>subida del salario mínimo impacta más en el comercio minorista y la hostelería, donde se concentran hogares de renta baja </a:t>
            </a:r>
            <a:r>
              <a:rPr lang="es-ES" sz="2400" dirty="0"/>
              <a:t>(</a:t>
            </a:r>
            <a:r>
              <a:rPr lang="es-ES" sz="2400" dirty="0" err="1"/>
              <a:t>Eurofound</a:t>
            </a:r>
            <a:r>
              <a:rPr lang="es-ES" sz="2400" dirty="0"/>
              <a:t>, 2022).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Los modelos CGE y SFC calibrados con SAM que </a:t>
            </a:r>
            <a:r>
              <a:rPr lang="es-ES" sz="2400" u="sng" dirty="0"/>
              <a:t>diferencian tipos de trabajo (cualificado/no cualificado)</a:t>
            </a:r>
            <a:r>
              <a:rPr lang="es-ES" sz="2400" dirty="0"/>
              <a:t> </a:t>
            </a:r>
            <a:r>
              <a:rPr lang="es-ES" sz="2400" u="sng" dirty="0"/>
              <a:t>y hogares por decil </a:t>
            </a:r>
            <a:r>
              <a:rPr lang="es-ES" sz="2400" dirty="0"/>
              <a:t>simulan los efectos sobre el empleo, la desigualdad y la demanda, evitando la simplificación de un salario único representativo.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La dimensión regional (NUTS2) de los microdatos permite </a:t>
            </a:r>
            <a:r>
              <a:rPr lang="es-ES" sz="2400" u="sng" dirty="0"/>
              <a:t>evaluar la heterogeneidad espacial de la política</a:t>
            </a:r>
            <a:r>
              <a:rPr lang="es-ES" sz="2400" dirty="0"/>
              <a:t>: un salario mínimo único puede tener efectos muy distintos en regiones con costes de vida dispares.</a:t>
            </a:r>
          </a:p>
        </p:txBody>
      </p:sp>
    </p:spTree>
    <p:extLst>
      <p:ext uri="{BB962C8B-B14F-4D97-AF65-F5344CB8AC3E}">
        <p14:creationId xmlns:p14="http://schemas.microsoft.com/office/powerpoint/2010/main" val="215597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AEA55-597C-A366-1A83-FF1D2439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99B9808-50A7-EC88-6429-1D244902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985895-F3DC-7310-043B-8EB658D58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C9C971-BFDB-ED29-79AB-75593AD3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095B45-908D-58D5-A32C-F24F48D8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628EA4-4BCA-193A-AF79-78754A238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269C21-ACBF-1140-3CB5-D485127EB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3BA6D8-6DEA-B863-0842-C447D6560D29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chemeClr val="bg1"/>
                </a:solidFill>
              </a:rPr>
              <a:t>Del microdato al </a:t>
            </a:r>
            <a:r>
              <a:rPr lang="es-ES" sz="2400" b="1" dirty="0" err="1">
                <a:solidFill>
                  <a:schemeClr val="bg1"/>
                </a:solidFill>
              </a:rPr>
              <a:t>macromodelo</a:t>
            </a:r>
            <a:r>
              <a:rPr lang="es-ES" sz="2400" b="1" dirty="0">
                <a:solidFill>
                  <a:schemeClr val="bg1"/>
                </a:solidFill>
              </a:rPr>
              <a:t>: </a:t>
            </a:r>
            <a:r>
              <a:rPr lang="es-ES" sz="2400" b="1" dirty="0">
                <a:solidFill>
                  <a:srgbClr val="40F6E9"/>
                </a:solidFill>
              </a:rPr>
              <a:t>integración empírica</a:t>
            </a:r>
            <a:endParaRPr lang="en-US" sz="2400" b="1" kern="1200" dirty="0">
              <a:solidFill>
                <a:srgbClr val="40F6E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BDA594-FCF9-5A95-AF82-BFED29D94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24" y="1811670"/>
            <a:ext cx="112733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combinado de encuestas 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(de hogares…): Presupuestos Familiares (HBS), Condiciones de Vida (SILC), Finanzas y Consumo (HFCS), Fuerza de Trabajo (LFS) y Cuentas Nacionales.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Técnicas de emparejamiento estadístico y modelos econométricos 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(ej. QUAIDS) para estimar parámetros de consumo coherentes a nivel micro y macro.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integración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micro-macro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calibrar restricciones 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liquidez, propensiones al consumo y efectos distributivos de las políticas (fiscales, climáticas…).</a:t>
            </a:r>
          </a:p>
        </p:txBody>
      </p:sp>
    </p:spTree>
    <p:extLst>
      <p:ext uri="{BB962C8B-B14F-4D97-AF65-F5344CB8AC3E}">
        <p14:creationId xmlns:p14="http://schemas.microsoft.com/office/powerpoint/2010/main" val="241310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77BC6-6397-1ACD-C988-5C1F4021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4AE86F1-1B09-4280-7D7F-7F96DAA6F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7D8CCE-B65D-62DB-7518-E848CE951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42D616-ACAC-F403-51AA-F19E716BB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E1C51C-67FD-F661-CA83-BBF5E959C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FDA619-2D54-82BE-5167-2E8CDB02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67A610-23FC-2BCA-01BC-A67C80A59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1F3EB3-98BB-64FC-EF24-53A10C895052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chemeClr val="bg1"/>
                </a:solidFill>
              </a:rPr>
              <a:t>Conectar el consumo con la economía real y los </a:t>
            </a:r>
            <a:r>
              <a:rPr lang="es-ES" sz="2400" b="1" dirty="0">
                <a:solidFill>
                  <a:srgbClr val="40F6E9"/>
                </a:solidFill>
              </a:rPr>
              <a:t>sectores clave (bottom-up</a:t>
            </a:r>
            <a:r>
              <a:rPr lang="es-ES" sz="2400" b="1" dirty="0">
                <a:solidFill>
                  <a:schemeClr val="bg1"/>
                </a:solidFill>
              </a:rPr>
              <a:t>)</a:t>
            </a:r>
            <a:endParaRPr lang="en-US" sz="24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9D0F6F-C3A5-37B6-C567-F880AACE8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48" y="2027113"/>
            <a:ext cx="112733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Vincular el consumo a la renta disponible, el empleo y la riqueza </a:t>
            </a: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(ahorro, crédito, bienes duraderos vs. no duraderos).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Integrar modelos detallados de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energía, transporte y vivienda</a:t>
            </a: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flujos físicos y monetarios, dinámica de stocks (vehículos, edificios), retroalimentaciones con el resto de la economía.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WILIAM (también EUROGREEN): un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marco input-output híbrido que permite simular políticas </a:t>
            </a: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descarbonización con realismo técnico y distributivo.</a:t>
            </a:r>
          </a:p>
        </p:txBody>
      </p:sp>
    </p:spTree>
    <p:extLst>
      <p:ext uri="{BB962C8B-B14F-4D97-AF65-F5344CB8AC3E}">
        <p14:creationId xmlns:p14="http://schemas.microsoft.com/office/powerpoint/2010/main" val="2949187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90A8A-C294-75ED-4CDA-6B8FDC96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447F0D3-8FF2-9422-BF33-D84FE481A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78CF0C-7C23-82EC-3D52-732B4833B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DBF30E-C933-CB1D-D115-B8A66BA4A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8E583D-6E95-9BB4-46A3-D11BF6A1B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DEB0BA-5B2E-6A0D-8ED3-43B91634D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782C08-5E09-A393-02A9-C205E539F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430D9C-A02C-BF96-5A30-288450F0D078}"/>
              </a:ext>
            </a:extLst>
          </p:cNvPr>
          <p:cNvSpPr txBox="1"/>
          <p:nvPr/>
        </p:nvSpPr>
        <p:spPr>
          <a:xfrm>
            <a:off x="619761" y="320951"/>
            <a:ext cx="11247120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600" b="1" dirty="0">
                <a:solidFill>
                  <a:schemeClr val="bg1"/>
                </a:solidFill>
              </a:rPr>
              <a:t>Más allá del “homo </a:t>
            </a:r>
            <a:r>
              <a:rPr lang="es-ES" sz="2600" b="1" dirty="0" err="1">
                <a:solidFill>
                  <a:schemeClr val="bg1"/>
                </a:solidFill>
              </a:rPr>
              <a:t>economicus</a:t>
            </a:r>
            <a:r>
              <a:rPr lang="es-ES" sz="2600" b="1" dirty="0">
                <a:solidFill>
                  <a:schemeClr val="bg1"/>
                </a:solidFill>
              </a:rPr>
              <a:t>”: impulsores conductuales y sociales del consumo</a:t>
            </a:r>
            <a:endParaRPr lang="en-US" sz="26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D597C7F-822B-2D65-F712-36B07E01E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48" y="2027113"/>
            <a:ext cx="112733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Incorporar </a:t>
            </a:r>
            <a:r>
              <a:rPr kumimoji="0" lang="es-ES" altLang="es-ES" sz="2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estatus social </a:t>
            </a: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(efecto Veblen), formación de hábitos, inercia de </a:t>
            </a:r>
            <a:r>
              <a:rPr kumimoji="0" lang="es-ES" altLang="es-ES" sz="2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estilos de vida </a:t>
            </a: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intensivos en recursos.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Enmarcar el consumo como satisfacción de necesidades humanas fundamentales (Max-Neef), </a:t>
            </a: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solo como maximización de utilidad.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Modelizar la difusión de prácticas (in)sostenibles</a:t>
            </a: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efectos de red, cambios endógenos en preferencias y “puntos de inflexión social” hacia dietas bajas en carbono, movilidad compartida o adopción de tecnologías limpias.</a:t>
            </a:r>
          </a:p>
        </p:txBody>
      </p:sp>
    </p:spTree>
    <p:extLst>
      <p:ext uri="{BB962C8B-B14F-4D97-AF65-F5344CB8AC3E}">
        <p14:creationId xmlns:p14="http://schemas.microsoft.com/office/powerpoint/2010/main" val="1770556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4658C-8EE3-102C-D14F-5A37B2B7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6F739F3-BBB5-E654-5C6F-552A5205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AE0A46-19FB-C966-E84E-8C2012BA5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7457EA-E8A7-4477-73B4-9105ED0AA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13A881-D26F-8E19-60FD-9987149F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5B939-37B5-FA7F-4B46-21AD88CC3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31F99-EE3F-A87D-399C-F29B3CC16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9A6B1C-FF84-FB04-5213-181506AFCEE0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rgbClr val="40F6E9"/>
                </a:solidFill>
              </a:rPr>
              <a:t>Retos conceptuales y aplicados en la integración </a:t>
            </a:r>
            <a:r>
              <a:rPr lang="es-ES" sz="2400" b="1" dirty="0" err="1">
                <a:solidFill>
                  <a:srgbClr val="40F6E9"/>
                </a:solidFill>
              </a:rPr>
              <a:t>micro‑macro</a:t>
            </a:r>
            <a:endParaRPr lang="en-US" sz="2400" b="1" kern="1200" dirty="0">
              <a:solidFill>
                <a:srgbClr val="40F6E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F3B1D0-4365-0386-1464-607532EEA4C2}"/>
              </a:ext>
            </a:extLst>
          </p:cNvPr>
          <p:cNvSpPr txBox="1"/>
          <p:nvPr/>
        </p:nvSpPr>
        <p:spPr>
          <a:xfrm>
            <a:off x="459350" y="1864016"/>
            <a:ext cx="10950436" cy="469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b="1" i="0" dirty="0">
                <a:solidFill>
                  <a:srgbClr val="0F1115"/>
                </a:solidFill>
                <a:effectLst/>
                <a:latin typeface="quote-cjk-patch"/>
              </a:rPr>
              <a:t>Desagregación sectorial y temporal</a:t>
            </a:r>
            <a:endParaRPr lang="es-ES" sz="2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Las TIO (CPA) y las encuestas de empresas (SBS, CIS) difieren en detalle y frecuencia.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OCDE (2013): construir matrices de transición y calibrar con múltiples restricciones.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b="1" i="0" dirty="0">
                <a:solidFill>
                  <a:srgbClr val="0F1115"/>
                </a:solidFill>
                <a:effectLst/>
                <a:latin typeface="quote-cjk-patch"/>
              </a:rPr>
              <a:t>Economía no observada y hogares colectivos</a:t>
            </a:r>
            <a:endParaRPr lang="es-ES" sz="2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La CN ajusta por economía sumergida; las encuestas de hogares apenas la cubren.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Eurostat (2013b) detalla cómo integrar estas estimaciones sin romper la coherencia de las TIO</a:t>
            </a:r>
          </a:p>
          <a:p>
            <a:pPr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b="1" dirty="0">
                <a:solidFill>
                  <a:srgbClr val="0F1115"/>
                </a:solidFill>
                <a:latin typeface="quote-cjk-patch"/>
              </a:rPr>
              <a:t> Ajustes al concepto doméstico de CN</a:t>
            </a:r>
            <a:endParaRPr lang="es-ES" sz="2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rgbClr val="0F1115"/>
                </a:solidFill>
                <a:latin typeface="quote-cjk-patch"/>
              </a:rPr>
              <a:t>La CN va a capturar lo ocurrido dentro del país (incluyendo la actividad de no residentes en el mismo, excluyendo de los residentes fuera).</a:t>
            </a:r>
            <a:endParaRPr lang="es-ES" sz="2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035422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0A5ED-CC77-1B93-77D3-0D8C5257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781D4F8-ED8B-6C72-B2E3-FC819A442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FFD2A5-76FB-193B-0656-497263DD8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5B5BDB-9759-58EF-B8AE-C30764F56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3620AE-3C38-8B24-EBB7-6A8191DAF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7453FB-23BC-DC75-17B1-DC503803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DB5587-F328-8168-F7CC-29AC7BAA3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6BEFE2-2930-8888-FDC3-DFFD6FFF8AF8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rgbClr val="40F6E9"/>
                </a:solidFill>
              </a:rPr>
              <a:t>Retos conceptuales y aplicados en la integración </a:t>
            </a:r>
            <a:r>
              <a:rPr lang="es-ES" sz="2400" b="1" dirty="0" err="1">
                <a:solidFill>
                  <a:srgbClr val="40F6E9"/>
                </a:solidFill>
              </a:rPr>
              <a:t>micro‑macro</a:t>
            </a:r>
            <a:endParaRPr lang="en-US" sz="2400" b="1" kern="1200" dirty="0">
              <a:solidFill>
                <a:srgbClr val="40F6E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3D7B91-EA80-3672-3B3F-1B0EBB06495B}"/>
              </a:ext>
            </a:extLst>
          </p:cNvPr>
          <p:cNvSpPr txBox="1"/>
          <p:nvPr/>
        </p:nvSpPr>
        <p:spPr>
          <a:xfrm>
            <a:off x="459350" y="1911692"/>
            <a:ext cx="10950436" cy="446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b="1" i="0" dirty="0">
                <a:solidFill>
                  <a:srgbClr val="0F1115"/>
                </a:solidFill>
                <a:effectLst/>
                <a:latin typeface="quote-cjk-patch"/>
              </a:rPr>
              <a:t>Errores de medición y </a:t>
            </a:r>
            <a:r>
              <a:rPr lang="es-ES" sz="2200" b="1" i="0" dirty="0" err="1">
                <a:solidFill>
                  <a:srgbClr val="0F1115"/>
                </a:solidFill>
                <a:effectLst/>
                <a:latin typeface="quote-cjk-patch"/>
              </a:rPr>
              <a:t>subcobertura</a:t>
            </a:r>
            <a:endParaRPr lang="es-ES" sz="2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Infradeclaración en colas altas (rentas de capital) y en ingresos de autónomos.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1" i="0" dirty="0">
                <a:solidFill>
                  <a:srgbClr val="0F1115"/>
                </a:solidFill>
                <a:effectLst/>
                <a:latin typeface="quote-cjk-patch"/>
              </a:rPr>
              <a:t>Respuesta DINA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s-ES" sz="2200" b="0" i="0" dirty="0" err="1">
                <a:solidFill>
                  <a:srgbClr val="0F1115"/>
                </a:solidFill>
                <a:effectLst/>
                <a:latin typeface="quote-cjk-patch"/>
              </a:rPr>
              <a:t>Piketty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s-ES" sz="2200" b="0" i="0" dirty="0" err="1">
                <a:solidFill>
                  <a:srgbClr val="0F1115"/>
                </a:solidFill>
                <a:effectLst/>
                <a:latin typeface="quote-cjk-patch"/>
              </a:rPr>
              <a:t>Saez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s-ES" sz="2200" b="0" i="0" dirty="0" err="1">
                <a:solidFill>
                  <a:srgbClr val="0F1115"/>
                </a:solidFill>
                <a:effectLst/>
                <a:latin typeface="quote-cjk-patch"/>
              </a:rPr>
              <a:t>Zucman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, 2018): combinar encuestas, datos fiscales y CN.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Eurostat (2020a): cuentas distributivas experimentales con calibrado iterativo y distribución de Pareto en la cola.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b="1" i="0" dirty="0">
                <a:solidFill>
                  <a:srgbClr val="0F1115"/>
                </a:solidFill>
                <a:effectLst/>
                <a:latin typeface="quote-cjk-patch"/>
              </a:rPr>
              <a:t>Emparejamiento estadístico de fuentes</a:t>
            </a:r>
            <a:endParaRPr lang="es-ES" sz="2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Ninguna encuesta única contiene renta, consumo y riqueza.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0" i="1" dirty="0" err="1">
                <a:solidFill>
                  <a:srgbClr val="0F1115"/>
                </a:solidFill>
                <a:effectLst/>
                <a:latin typeface="quote-cjk-patch"/>
              </a:rPr>
              <a:t>Statistical</a:t>
            </a:r>
            <a:r>
              <a:rPr lang="es-ES" sz="22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sz="2200" b="0" i="1" dirty="0" err="1">
                <a:solidFill>
                  <a:srgbClr val="0F1115"/>
                </a:solidFill>
                <a:effectLst/>
                <a:latin typeface="quote-cjk-patch"/>
              </a:rPr>
              <a:t>matching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 entre EU‑SILC, EPF y HFCS (Donatiello et al., 2018).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Riesgo: distorsiona correlaciones reales (p. ej., entre ahorro y tenencia de vivienda).</a:t>
            </a:r>
          </a:p>
        </p:txBody>
      </p:sp>
    </p:spTree>
    <p:extLst>
      <p:ext uri="{BB962C8B-B14F-4D97-AF65-F5344CB8AC3E}">
        <p14:creationId xmlns:p14="http://schemas.microsoft.com/office/powerpoint/2010/main" val="2413742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38FAF-6EB8-E29A-E4E9-B9EAD5F8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0FC1B2F-AD9D-6BDF-D64B-AF8138004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5BE623-5A59-561A-4B7E-455C7689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FA3C3A-918B-AF92-4144-15FB2AAEF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BB801A-BC01-66FF-52D6-40ADD9D26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15641E-311F-B654-AD87-2EB54E3F3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E6EB9B-33E0-0CF3-807C-7B7268178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0903EC-AC86-DDD6-2FC0-06C09F41967C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chemeClr val="bg1"/>
                </a:solidFill>
              </a:rPr>
              <a:t>Literatura y referencias clave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CD585B-6DDC-0B59-B843-805F73E0D264}"/>
              </a:ext>
            </a:extLst>
          </p:cNvPr>
          <p:cNvSpPr txBox="1"/>
          <p:nvPr/>
        </p:nvSpPr>
        <p:spPr>
          <a:xfrm>
            <a:off x="111758" y="1597432"/>
            <a:ext cx="11968480" cy="5337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Eurostat (2013a).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European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System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of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Accounts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– ESA 2010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Luxembourg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Publications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Office.</a:t>
            </a:r>
            <a:b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https://ec.europa.eu/eurostat/web/products-manuals-and-guidelines/-/ks-02-13-269</a:t>
            </a:r>
            <a:endParaRPr lang="es-E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OCDE 2002. </a:t>
            </a:r>
            <a:r>
              <a:rPr lang="en-GB" b="1" dirty="0">
                <a:solidFill>
                  <a:srgbClr val="0F1115"/>
                </a:solidFill>
                <a:latin typeface="quote-cjk-patch"/>
              </a:rPr>
              <a:t>Measuring the Non-Observed Economy: A Handbook (EN) </a:t>
            </a:r>
            <a:r>
              <a:rPr lang="es-ES" dirty="0">
                <a:solidFill>
                  <a:srgbClr val="0F1115"/>
                </a:solidFill>
                <a:latin typeface="quote-cjk-patch"/>
                <a:hlinkClick r:id="rId4"/>
              </a:rPr>
              <a:t>https://www.oecd.org/content/dam/oecd/en/publications/reports/2002/05/measuring-the-non-observed-economy-a-handbook_g1ghge7e/9789264175358-en.pdf</a:t>
            </a:r>
            <a:r>
              <a:rPr lang="es-ES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Eurostat 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Manual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the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measurement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of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the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non-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observed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economy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es-ES" dirty="0">
              <a:solidFill>
                <a:srgbClr val="0F1115"/>
              </a:solidFill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UNECE (2020, 2021…)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/ </a:t>
            </a:r>
            <a:r>
              <a:rPr lang="en-GB" dirty="0">
                <a:solidFill>
                  <a:srgbClr val="0F1115"/>
                </a:solidFill>
                <a:latin typeface="quote-cjk-patch"/>
              </a:rPr>
              <a:t>Imputed Rent of Owner-occupied Dwellings / </a:t>
            </a:r>
            <a:r>
              <a:rPr lang="es-ES" b="1" dirty="0">
                <a:solidFill>
                  <a:srgbClr val="0F1115"/>
                </a:solidFill>
                <a:latin typeface="quote-cjk-patch"/>
              </a:rPr>
              <a:t>(Eurostat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on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the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imputed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rent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of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owner-occupied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dwellings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). </a:t>
            </a:r>
            <a:r>
              <a:rPr lang="es-ES" i="1" dirty="0">
                <a:solidFill>
                  <a:srgbClr val="0F1115"/>
                </a:solidFill>
                <a:latin typeface="quote-cjk-patch"/>
                <a:hlinkClick r:id="rId5"/>
              </a:rPr>
              <a:t>https://unece.org/sites/default/files/2021-03/5.2%20Imputed%20rental%20in%20EECCA%20countries%20-%20compilation%20challanges%20%28en%29.pdf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 / </a:t>
            </a:r>
            <a:r>
              <a:rPr lang="en-GB" i="1" dirty="0">
                <a:solidFill>
                  <a:srgbClr val="0F1115"/>
                </a:solidFill>
                <a:latin typeface="quote-cjk-patch"/>
              </a:rPr>
              <a:t>Measuring the Services of Durables and Owner Occupied Housing. https://stats.unece.org/ottawagroup/download/f673.pdf</a:t>
            </a:r>
            <a:endParaRPr lang="es-ES" dirty="0">
              <a:solidFill>
                <a:srgbClr val="0F1115"/>
              </a:solidFill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Eurostat.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Tables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of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correspondence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CPA/CN  (COICOP…)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>
                <a:solidFill>
                  <a:srgbClr val="0F1115"/>
                </a:solidFill>
                <a:latin typeface="quote-cjk-patch"/>
                <a:hlinkClick r:id="rId6"/>
              </a:rPr>
              <a:t>https://ec.europa.eu/eurostat/web/cpa/correspondence-tables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Eurostat (2018a).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GB" dirty="0">
                <a:solidFill>
                  <a:srgbClr val="0F1115"/>
                </a:solidFill>
                <a:latin typeface="quote-cjk-patch"/>
              </a:rPr>
              <a:t> Practical guidelines for revising ESA 2010 data /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Methodological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guidelines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for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the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compilation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of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household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final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consumption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expenditure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from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household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budget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surveys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es-ES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7"/>
              </a:rPr>
              <a:t>https://ec.europa.eu/eurostat/web/products-manuals-and-guidelines/-/KS-GQ-18-012</a:t>
            </a:r>
            <a:endParaRPr lang="es-E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Eurostat (2018b).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Bridging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table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between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HBS and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national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accounts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concepts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es-ES" i="0" dirty="0">
                <a:solidFill>
                  <a:srgbClr val="0F1115"/>
                </a:solidFill>
                <a:effectLst/>
                <a:latin typeface="quote-cjk-patch"/>
              </a:rPr>
              <a:t>Incluido en el anexo de 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Eurostat (2018a) </a:t>
            </a:r>
            <a:r>
              <a:rPr lang="es-ES" i="0" dirty="0">
                <a:solidFill>
                  <a:srgbClr val="0F1115"/>
                </a:solidFill>
                <a:effectLst/>
                <a:latin typeface="quote-cjk-patch"/>
              </a:rPr>
              <a:t>y e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n las publicaciones de “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Household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consumption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expenditure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–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methodological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overview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33052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F2E65-DE63-1058-E769-4E7DC0E8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B8521C9-350B-EC7D-4A61-C42BD0658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15B163-F77F-9C2B-328F-03622354A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D63B5C-56D4-CE79-FD85-B0053A350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774733-85E6-EF1E-F1C3-49486BDB1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5AEE17-E0EA-559A-37F0-21093154C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8EC26C-C26E-395B-A349-36199E1C8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549540F-7D7F-EBF6-4AB6-041370F1E282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chemeClr val="bg1"/>
                </a:solidFill>
              </a:rPr>
              <a:t>Literatura y referencias clave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CE3EED-DC3C-8349-BD38-2DF0FCA1469A}"/>
              </a:ext>
            </a:extLst>
          </p:cNvPr>
          <p:cNvSpPr txBox="1"/>
          <p:nvPr/>
        </p:nvSpPr>
        <p:spPr>
          <a:xfrm>
            <a:off x="111758" y="1815244"/>
            <a:ext cx="11968480" cy="4721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7. Eurostat.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Environmental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footprints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of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European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households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,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e.g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. Greenhouse gas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emission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footprints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. </a:t>
            </a:r>
            <a:r>
              <a:rPr lang="es-ES" dirty="0">
                <a:solidFill>
                  <a:srgbClr val="0F1115"/>
                </a:solidFill>
                <a:latin typeface="quote-cjk-patch"/>
                <a:hlinkClick r:id="rId3"/>
              </a:rPr>
              <a:t>https://ec.europa.eu/eurostat/statistics-explained/index.php?title=Greenhouse_gas_emission_footprints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8. Eurostat (2020a).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Experimental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Distributional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National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Accounts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.   / </a:t>
            </a:r>
            <a:r>
              <a:rPr lang="en-GB" dirty="0">
                <a:solidFill>
                  <a:srgbClr val="0F1115"/>
                </a:solidFill>
                <a:latin typeface="quote-cjk-patch"/>
              </a:rPr>
              <a:t>Income and consumption: social surveys and national accounts. </a:t>
            </a:r>
            <a:r>
              <a:rPr lang="es-ES" dirty="0">
                <a:solidFill>
                  <a:srgbClr val="0F1115"/>
                </a:solidFill>
                <a:latin typeface="quote-cjk-patch"/>
                <a:hlinkClick r:id="rId4"/>
              </a:rPr>
              <a:t>https://ec.europa.eu/eurostat/web/experimental-statistics/income-consumption-social-surveys-national-accounts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endParaRPr lang="es-ES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9.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Piketty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, T.,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Saez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, E. y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Zucman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, G. (2018).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«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Distributional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National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Accounts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Methods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and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Estimates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for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the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United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States». 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Quarterly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Journal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of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Economics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, 133(2), 553‑609. </a:t>
            </a:r>
            <a:r>
              <a:rPr lang="es-ES" dirty="0">
                <a:solidFill>
                  <a:srgbClr val="3964FE"/>
                </a:solidFill>
                <a:latin typeface="quote-cjk-patch"/>
              </a:rPr>
              <a:t>https://gabriel-zucman.eu/files/PSZ2018QJE.pdf </a:t>
            </a: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10. Blanchet, T.,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Chancel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, L. y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Gethin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, A. (2022).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«Why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Is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Europe More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Equal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than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the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United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States?». 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American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Economic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Journal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Applied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Economics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, 14(4), 1‑36. </a:t>
            </a:r>
            <a:r>
              <a:rPr lang="es-ES" dirty="0">
                <a:solidFill>
                  <a:srgbClr val="3964FE"/>
                </a:solidFill>
                <a:latin typeface="quote-cjk-patch"/>
                <a:hlinkClick r:id="rId5"/>
              </a:rPr>
              <a:t>https://www.aeaweb.org/articles?id=10.1257/app.20200703</a:t>
            </a:r>
            <a:endParaRPr lang="es-ES" dirty="0">
              <a:solidFill>
                <a:srgbClr val="3964FE"/>
              </a:solidFill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11.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Fesseau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, M.</a:t>
            </a:r>
            <a:r>
              <a:rPr lang="es-ES" b="1" dirty="0">
                <a:solidFill>
                  <a:srgbClr val="0F1115"/>
                </a:solidFill>
                <a:latin typeface="quote-cjk-patch"/>
              </a:rPr>
              <a:t>, Wolff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 y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Mattonetti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, M. L. (2013).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«A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micro-macro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framework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for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household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income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consumption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 and </a:t>
            </a:r>
            <a:r>
              <a:rPr lang="es-ES" b="0" i="0" dirty="0" err="1">
                <a:solidFill>
                  <a:srgbClr val="0F1115"/>
                </a:solidFill>
                <a:effectLst/>
                <a:latin typeface="quote-cjk-patch"/>
              </a:rPr>
              <a:t>saving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». 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OECD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Statistics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Working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Papers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, 2013/02. </a:t>
            </a:r>
            <a:r>
              <a:rPr lang="es-ES" sz="1400" dirty="0">
                <a:solidFill>
                  <a:srgbClr val="3964FE"/>
                </a:solidFill>
                <a:latin typeface="quote-cjk-patch"/>
              </a:rPr>
              <a:t>https://www.oecd.org/content/dam/oecd/en/publications/reports/2013/11/a-cross-country-comparison-of-household-income-consumption-and-wealth-between-micro-sources-and-national-accounts-aggregates_g17a239c/5k3wdjrnh7mv-en.pdf </a:t>
            </a:r>
            <a:endParaRPr lang="es-ES" dirty="0">
              <a:solidFill>
                <a:srgbClr val="3964FE"/>
              </a:solidFill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12. OCDE (2013).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Framework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for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Statistics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the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Distribution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of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Household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Income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Consumption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and Wealth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b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6"/>
              </a:rPr>
              <a:t>https://doi.org/10.1787/9789264194830-en</a:t>
            </a:r>
            <a:endParaRPr lang="es-E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474113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766FD-F7E5-7664-41E5-643CBE33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DFD35CF-DF06-EDB2-4182-BDBF288B6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280DC0-19F9-507C-6C47-7CB851071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53D201-4AB9-1518-F0D5-41C5A84AA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9349A2-3A5C-0B7F-F230-04FD90D48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A98B42-5FEC-258E-AF54-081B1829B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BC2E69-3515-D12F-9E52-1351A0CD8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3523123"/>
            <a:ext cx="109504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87A6CB-B385-8E47-E73F-6A7205785973}"/>
              </a:ext>
            </a:extLst>
          </p:cNvPr>
          <p:cNvSpPr txBox="1"/>
          <p:nvPr/>
        </p:nvSpPr>
        <p:spPr>
          <a:xfrm>
            <a:off x="211015" y="1728314"/>
            <a:ext cx="11980981" cy="4998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13. Donatiello, </a:t>
            </a:r>
            <a:r>
              <a:rPr lang="en-GB" b="1" dirty="0">
                <a:solidFill>
                  <a:srgbClr val="0F1115"/>
                </a:solidFill>
                <a:latin typeface="quote-cjk-patch"/>
              </a:rPr>
              <a:t>D’Orazio, Frattarola, </a:t>
            </a:r>
            <a:r>
              <a:rPr lang="en-GB" b="1" dirty="0" err="1">
                <a:solidFill>
                  <a:srgbClr val="0F1115"/>
                </a:solidFill>
                <a:latin typeface="quote-cjk-patch"/>
              </a:rPr>
              <a:t>Scanu</a:t>
            </a:r>
            <a:r>
              <a:rPr lang="en-GB" b="1" dirty="0">
                <a:solidFill>
                  <a:srgbClr val="0F1115"/>
                </a:solidFill>
                <a:latin typeface="quote-cjk-patch"/>
              </a:rPr>
              <a:t>, Spaziani (2016). </a:t>
            </a:r>
            <a:r>
              <a:rPr lang="en-GB" dirty="0">
                <a:solidFill>
                  <a:srgbClr val="0F1115"/>
                </a:solidFill>
                <a:latin typeface="quote-cjk-patch"/>
              </a:rPr>
              <a:t>The statistical matching of EU-SILC and HBS at ISTAT: where do we stand for the production of official statistics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. </a:t>
            </a:r>
            <a:r>
              <a:rPr lang="es-ES" dirty="0" err="1"/>
              <a:t>Conference</a:t>
            </a:r>
            <a:r>
              <a:rPr lang="es-ES" dirty="0"/>
              <a:t>: DGINS - </a:t>
            </a:r>
            <a:r>
              <a:rPr lang="es-ES" dirty="0" err="1"/>
              <a:t>Conference</a:t>
            </a:r>
            <a:r>
              <a:rPr lang="es-ES" dirty="0"/>
              <a:t>, 26-27 September 2016. </a:t>
            </a:r>
            <a:r>
              <a:rPr lang="es-ES" dirty="0">
                <a:hlinkClick r:id="rId3"/>
              </a:rPr>
              <a:t>https://www.istat.it/wp-content/uploads/2018/11/Scanu_original-paper.pdf</a:t>
            </a:r>
            <a:r>
              <a:rPr lang="es-ES" dirty="0"/>
              <a:t> </a:t>
            </a:r>
            <a:endParaRPr lang="es-ES" dirty="0">
              <a:solidFill>
                <a:srgbClr val="0F1115"/>
              </a:solidFill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14. </a:t>
            </a:r>
            <a:r>
              <a:rPr lang="es-ES" b="1" dirty="0">
                <a:solidFill>
                  <a:srgbClr val="0F1115"/>
                </a:solidFill>
                <a:latin typeface="quote-cjk-patch"/>
              </a:rPr>
              <a:t>Manuel Tomás, Petr Mariel, Iñaki Arto, Ignacio </a:t>
            </a:r>
            <a:r>
              <a:rPr lang="es-ES" b="1" dirty="0" err="1">
                <a:solidFill>
                  <a:srgbClr val="0F1115"/>
                </a:solidFill>
                <a:latin typeface="quote-cjk-patch"/>
              </a:rPr>
              <a:t>Cazcarro</a:t>
            </a:r>
            <a:r>
              <a:rPr lang="es-ES" b="1" dirty="0">
                <a:solidFill>
                  <a:srgbClr val="0F1115"/>
                </a:solidFill>
                <a:latin typeface="quote-cjk-patch"/>
              </a:rPr>
              <a:t>  and Kurt </a:t>
            </a:r>
            <a:r>
              <a:rPr lang="es-ES" b="1" dirty="0" err="1">
                <a:solidFill>
                  <a:srgbClr val="0F1115"/>
                </a:solidFill>
                <a:latin typeface="quote-cjk-patch"/>
              </a:rPr>
              <a:t>Kratena</a:t>
            </a:r>
            <a:r>
              <a:rPr lang="es-ES" b="1" dirty="0">
                <a:solidFill>
                  <a:srgbClr val="0F1115"/>
                </a:solidFill>
                <a:latin typeface="quote-cjk-patch"/>
              </a:rPr>
              <a:t> (2026).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Statistical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matching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of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household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income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and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consumption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surveys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at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the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European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Union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level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: a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two-stage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non-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parametric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s-ES" dirty="0" err="1">
                <a:solidFill>
                  <a:srgbClr val="0F1115"/>
                </a:solidFill>
                <a:latin typeface="quote-cjk-patch"/>
              </a:rPr>
              <a:t>approach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. WP</a:t>
            </a: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15. </a:t>
            </a:r>
            <a:r>
              <a:rPr lang="es-ES" b="1" i="0" dirty="0" err="1">
                <a:solidFill>
                  <a:srgbClr val="0F1115"/>
                </a:solidFill>
                <a:effectLst/>
                <a:latin typeface="quote-cjk-patch"/>
              </a:rPr>
              <a:t>United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 Nations (2018).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Handbook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National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Accounting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on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Non-Profit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Institutions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in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the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System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of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National</a:t>
            </a:r>
            <a:r>
              <a:rPr lang="es-ES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b="0" i="1" dirty="0" err="1">
                <a:solidFill>
                  <a:srgbClr val="0F1115"/>
                </a:solidFill>
                <a:effectLst/>
                <a:latin typeface="quote-cjk-patch"/>
              </a:rPr>
              <a:t>Accounts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) </a:t>
            </a:r>
            <a:r>
              <a:rPr lang="es-ES" dirty="0">
                <a:solidFill>
                  <a:srgbClr val="0F1115"/>
                </a:solidFill>
                <a:latin typeface="quote-cjk-patch"/>
                <a:hlinkClick r:id="rId4"/>
              </a:rPr>
              <a:t>https://unstats.un.org/unsd/nationalaccount/pubsDB.asp?pType=2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 </a:t>
            </a: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16. Eurostat (2018). </a:t>
            </a:r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household</a:t>
            </a:r>
            <a:r>
              <a:rPr lang="es-ES" dirty="0"/>
              <a:t> </a:t>
            </a:r>
            <a:r>
              <a:rPr lang="es-ES" dirty="0" err="1"/>
              <a:t>consumption</a:t>
            </a:r>
            <a:r>
              <a:rPr lang="es-ES" dirty="0"/>
              <a:t> - </a:t>
            </a:r>
            <a:r>
              <a:rPr lang="es-ES" dirty="0" err="1"/>
              <a:t>comparison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micro and macro </a:t>
            </a:r>
            <a:r>
              <a:rPr lang="es-ES" dirty="0" err="1"/>
              <a:t>approach</a:t>
            </a:r>
            <a:r>
              <a:rPr lang="es-ES" dirty="0"/>
              <a:t>. </a:t>
            </a:r>
            <a:r>
              <a:rPr lang="es-ES" dirty="0" err="1"/>
              <a:t>Expermiental</a:t>
            </a:r>
            <a:r>
              <a:rPr lang="es-ES" b="1" dirty="0"/>
              <a:t>. </a:t>
            </a:r>
            <a:r>
              <a:rPr lang="es-ES" sz="1400" b="1" dirty="0">
                <a:hlinkClick r:id="rId5"/>
              </a:rPr>
              <a:t>https://ec.europa.eu/eurostat/statistics-explained/index.php?title=Concepts_for_household_consumption_-_comparison_between_micro_and_macro_approach</a:t>
            </a:r>
            <a:r>
              <a:rPr lang="es-ES" sz="1400" b="1" dirty="0"/>
              <a:t> </a:t>
            </a:r>
            <a:endParaRPr lang="es-ES" dirty="0">
              <a:solidFill>
                <a:srgbClr val="0F1115"/>
              </a:solidFill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17. </a:t>
            </a:r>
            <a:r>
              <a:rPr lang="it-IT" b="1" dirty="0"/>
              <a:t>Iñaki Arto, Ignacio Cazcarro, Kurt Kratena, Manuel Tomás </a:t>
            </a:r>
            <a:r>
              <a:rPr lang="it-IT" dirty="0"/>
              <a:t>(2026). Beyond Traditional Consumption Models: Social and Planetary Boundaries must be present in Macroeconomic Frameworks. Book chapter (Ecological Macroeconomics).</a:t>
            </a:r>
            <a:endParaRPr lang="es-ES" b="1" dirty="0">
              <a:solidFill>
                <a:srgbClr val="0F1115"/>
              </a:solidFill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s-ES" b="1" dirty="0">
                <a:solidFill>
                  <a:srgbClr val="0F1115"/>
                </a:solidFill>
                <a:latin typeface="quote-cjk-patch"/>
              </a:rPr>
              <a:t>18. Cardenete, M. A., Guerra, A. I. y Sancho, F. (2012).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Applied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 General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Equilibrium</a:t>
            </a:r>
            <a:r>
              <a:rPr lang="es-ES" i="1" dirty="0">
                <a:solidFill>
                  <a:srgbClr val="0F1115"/>
                </a:solidFill>
                <a:latin typeface="quote-cjk-patch"/>
              </a:rPr>
              <a:t>. An </a:t>
            </a:r>
            <a:r>
              <a:rPr lang="es-ES" i="1" dirty="0" err="1">
                <a:solidFill>
                  <a:srgbClr val="0F1115"/>
                </a:solidFill>
                <a:latin typeface="quote-cjk-patch"/>
              </a:rPr>
              <a:t>Introduction</a:t>
            </a:r>
            <a:r>
              <a:rPr lang="es-ES" dirty="0">
                <a:solidFill>
                  <a:srgbClr val="0F1115"/>
                </a:solidFill>
                <a:latin typeface="quote-cjk-patch"/>
              </a:rPr>
              <a:t>. Springer.</a:t>
            </a:r>
            <a:br>
              <a:rPr lang="es-ES" dirty="0">
                <a:solidFill>
                  <a:srgbClr val="0F1115"/>
                </a:solidFill>
                <a:latin typeface="quote-cjk-patch"/>
              </a:rPr>
            </a:br>
            <a:r>
              <a:rPr lang="es-ES" dirty="0">
                <a:solidFill>
                  <a:srgbClr val="3964FE"/>
                </a:solidFill>
                <a:latin typeface="quote-cjk-patch"/>
                <a:hlinkClick r:id="rId6"/>
              </a:rPr>
              <a:t>https://doi.org/10.1007/978-3-642-24746-0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F7FB31E-1630-A50B-0617-C9837D53E765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General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chemeClr val="bg1"/>
                </a:solidFill>
              </a:rPr>
              <a:t>Literatura y referencias clave</a:t>
            </a:r>
          </a:p>
        </p:txBody>
      </p:sp>
    </p:spTree>
    <p:extLst>
      <p:ext uri="{BB962C8B-B14F-4D97-AF65-F5344CB8AC3E}">
        <p14:creationId xmlns:p14="http://schemas.microsoft.com/office/powerpoint/2010/main" val="991050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2F761-7F65-B248-9A5C-D832327A7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8B74EF7-9512-D33E-E634-2C1F3730170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362200" y="880745"/>
            <a:ext cx="786892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6000" b="1" kern="1200" dirty="0">
                <a:solidFill>
                  <a:srgbClr val="3F535B"/>
                </a:solidFill>
                <a:latin typeface="+mj-lt"/>
                <a:ea typeface="+mj-ea"/>
                <a:cs typeface="+mj-cs"/>
              </a:rPr>
              <a:t>Micro-Macro </a:t>
            </a:r>
            <a:r>
              <a:rPr lang="en-US" sz="6000" b="1" dirty="0" err="1">
                <a:solidFill>
                  <a:srgbClr val="0070C0"/>
                </a:solidFill>
              </a:rPr>
              <a:t>Consumo</a:t>
            </a:r>
            <a:endParaRPr lang="en-US" sz="6000" b="1" kern="1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28411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2A276-E20B-F9F6-2174-903633B72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E811F35-60FA-3456-A8E9-C5C0331B2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1520AE-1C7C-5A61-D327-455D19F0C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9D043A-4381-6BE9-A17B-DEBEC4EA8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9509B2-1D6D-EE0D-A2D3-E4084D6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131829-7227-D18A-815A-A0FEE1AE9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2A2FCC-D769-5912-855D-1171F6D1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1799574"/>
            <a:ext cx="1095043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mayoría de los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modelos económicos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como los modelos Input-Output (IO) o los modelos de Equilibrio General Computable (CGE), y otros modelos macroeconómicos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utilizan un agente representativo único para el consumo privado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Ejemplos de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recomendaciones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(Stiglitz, Sen y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Fitoussi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2009) y esfuerzos internacionales (Iniciativa de Brechas de Datos del G-20, 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DINA, </a:t>
            </a:r>
            <a:r>
              <a:rPr lang="es-ES" sz="2800" i="1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WID.world</a:t>
            </a:r>
            <a:r>
              <a:rPr lang="es-ES" sz="2800" i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…) que subrayan la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necesidad de vincular los datos de cuentas nacionales con información de distribución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A9AA1BD-9CA4-EEB5-35BC-DE9BCAEB0E8E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</a:t>
            </a:r>
            <a:r>
              <a:rPr lang="en-US" sz="4000" b="1" kern="1200" dirty="0" err="1">
                <a:solidFill>
                  <a:srgbClr val="40F6E9"/>
                </a:solidFill>
                <a:latin typeface="+mj-lt"/>
                <a:ea typeface="+mj-ea"/>
                <a:cs typeface="+mj-cs"/>
              </a:rPr>
              <a:t>Consumo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Contexto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Importancia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600" b="1" dirty="0">
                <a:solidFill>
                  <a:schemeClr val="bg1"/>
                </a:solidFill>
              </a:rPr>
              <a:t>¿Por qué necesitamos heterogeneidad y detalle en el consumo?</a:t>
            </a:r>
            <a:endParaRPr lang="en-US" sz="26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7033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FC26C-BFCD-4794-232F-C2C1D089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08E6C25-6BEA-606F-68BC-08833D7B4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ABA6BC-7F6A-A929-7458-74D686B8B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628DB4-3F08-3010-C2CE-85A2B43D1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AC69AD-F98E-46E9-BFCD-175582F1C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3F6DBE-FB53-0683-41B0-50608BB5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218B0E-6800-8E3D-5DE1-E718FC2A6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2230462"/>
            <a:ext cx="1095043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</a:rPr>
              <a:t>Desagregar el gasto en categorías </a:t>
            </a:r>
            <a:r>
              <a:rPr lang="es-ES" sz="2800" dirty="0">
                <a:latin typeface="Arial" panose="020B0604020202020204" pitchFamily="34" charset="0"/>
              </a:rPr>
              <a:t>(COICOP     NACE) que reflejen </a:t>
            </a:r>
            <a:r>
              <a:rPr lang="es-ES" sz="2800" u="sng" dirty="0">
                <a:latin typeface="Arial" panose="020B0604020202020204" pitchFamily="34" charset="0"/>
              </a:rPr>
              <a:t>necesidades básicas, bienes duraderos, energía, transporte y alimentación</a:t>
            </a:r>
            <a:r>
              <a:rPr lang="es-ES" sz="2800" dirty="0">
                <a:latin typeface="Arial" panose="020B0604020202020204" pitchFamily="34" charset="0"/>
              </a:rPr>
              <a:t>.</a:t>
            </a:r>
          </a:p>
          <a:p>
            <a:endParaRPr lang="es-ES" sz="2800" dirty="0">
              <a:latin typeface="Arial" panose="020B0604020202020204" pitchFamily="34" charset="0"/>
            </a:endParaRPr>
          </a:p>
          <a:p>
            <a:r>
              <a:rPr lang="es-ES" sz="2800" dirty="0">
                <a:latin typeface="Arial" panose="020B0604020202020204" pitchFamily="34" charset="0"/>
              </a:rPr>
              <a:t>La </a:t>
            </a:r>
            <a:r>
              <a:rPr lang="es-ES" sz="2800" b="1" dirty="0">
                <a:latin typeface="Arial" panose="020B0604020202020204" pitchFamily="34" charset="0"/>
              </a:rPr>
              <a:t>heterogeneidad no es estática</a:t>
            </a:r>
            <a:r>
              <a:rPr lang="es-ES" sz="2800" dirty="0">
                <a:latin typeface="Arial" panose="020B0604020202020204" pitchFamily="34" charset="0"/>
              </a:rPr>
              <a:t>: debe evolucionar con los cambios demográficos y socioeconómicos, alimentándose de microdatos actualizados.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F60AFDA-C065-BEDD-739E-FC582134BF0F}"/>
              </a:ext>
            </a:extLst>
          </p:cNvPr>
          <p:cNvSpPr txBox="1"/>
          <p:nvPr/>
        </p:nvSpPr>
        <p:spPr>
          <a:xfrm>
            <a:off x="782214" y="363444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</a:t>
            </a:r>
            <a:r>
              <a:rPr lang="en-US" sz="4000" b="1" kern="1200" dirty="0" err="1">
                <a:solidFill>
                  <a:srgbClr val="40F6E9"/>
                </a:solidFill>
                <a:latin typeface="+mj-lt"/>
                <a:ea typeface="+mj-ea"/>
                <a:cs typeface="+mj-cs"/>
              </a:rPr>
              <a:t>Consumo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Contexto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Importancia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600" b="1" dirty="0">
                <a:solidFill>
                  <a:schemeClr val="bg1"/>
                </a:solidFill>
              </a:rPr>
              <a:t>¿Por qué necesitamos heterogeneidad y detalle en el consumo?</a:t>
            </a:r>
            <a:endParaRPr lang="en-US" sz="26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94EFD53-37BA-9223-CBE1-00213FA6446D}"/>
              </a:ext>
            </a:extLst>
          </p:cNvPr>
          <p:cNvCxnSpPr/>
          <p:nvPr/>
        </p:nvCxnSpPr>
        <p:spPr>
          <a:xfrm>
            <a:off x="8009681" y="2500132"/>
            <a:ext cx="3703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742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74038" y="15907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400"/>
            </a:pPr>
            <a:r>
              <a:rPr lang="es-ES" sz="2800" b="1" dirty="0">
                <a:latin typeface="+mn-lt"/>
                <a:ea typeface="+mn-ea"/>
                <a:cs typeface="+mn-cs"/>
              </a:rPr>
              <a:t>Importancia de </a:t>
            </a:r>
            <a:r>
              <a:rPr lang="es-ES" sz="2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no simplificar hogares </a:t>
            </a:r>
            <a:r>
              <a:rPr lang="es-ES" sz="2800" b="1" dirty="0">
                <a:latin typeface="+mn-lt"/>
                <a:ea typeface="+mn-ea"/>
                <a:cs typeface="+mn-cs"/>
              </a:rPr>
              <a:t>en la modelización macroeconómica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72160" y="3275397"/>
            <a:ext cx="9855200" cy="31851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 sz="2800"/>
            </a:pPr>
            <a:r>
              <a:rPr lang="es-ES" sz="2800" dirty="0"/>
              <a:t>• Los </a:t>
            </a:r>
            <a:r>
              <a:rPr lang="es-ES" sz="2800" u="sng" dirty="0"/>
              <a:t>hogares no son homogéneos</a:t>
            </a:r>
            <a:r>
              <a:rPr lang="es-ES" sz="2800" dirty="0"/>
              <a:t>, difieren en ingresos, riqueza, restricciones de liquidez, y preferencias.</a:t>
            </a:r>
          </a:p>
          <a:p>
            <a:pPr lvl="1">
              <a:defRPr sz="2800"/>
            </a:pPr>
            <a:br>
              <a:rPr lang="es-ES" sz="2800" dirty="0"/>
            </a:br>
            <a:r>
              <a:rPr lang="es-ES" sz="2800" dirty="0"/>
              <a:t>• Estas </a:t>
            </a:r>
            <a:r>
              <a:rPr lang="es-ES" sz="2800" u="sng" dirty="0"/>
              <a:t>diferencias afectan la amplificación y propagación de perturbaciones macroeconómicas</a:t>
            </a:r>
            <a:r>
              <a:rPr lang="es-ES" sz="2800" dirty="0"/>
              <a:t>.</a:t>
            </a:r>
          </a:p>
          <a:p>
            <a:pPr lvl="1">
              <a:defRPr sz="2800"/>
            </a:pPr>
            <a:br>
              <a:rPr lang="es-ES" sz="2800" dirty="0"/>
            </a:br>
            <a:r>
              <a:rPr lang="es-ES" sz="2800" dirty="0"/>
              <a:t>• Análisis de los </a:t>
            </a:r>
            <a:r>
              <a:rPr lang="es-ES" sz="2800" u="sng" dirty="0"/>
              <a:t>efectos distributivos </a:t>
            </a:r>
            <a:r>
              <a:rPr lang="es-ES" sz="2800" dirty="0"/>
              <a:t>de políticas públicas y de impactos medioambientales.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FC801B-DC8B-4FF8-6170-269C7E904D63}"/>
              </a:ext>
            </a:extLst>
          </p:cNvPr>
          <p:cNvSpPr txBox="1"/>
          <p:nvPr/>
        </p:nvSpPr>
        <p:spPr>
          <a:xfrm>
            <a:off x="1066799" y="320951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Micro-Macro </a:t>
            </a:r>
            <a:r>
              <a:rPr lang="en-US" sz="4000" b="1" kern="1200" dirty="0" err="1">
                <a:solidFill>
                  <a:srgbClr val="40F6E9"/>
                </a:solidFill>
                <a:latin typeface="+mj-lt"/>
                <a:ea typeface="+mj-ea"/>
                <a:cs typeface="+mj-cs"/>
              </a:rPr>
              <a:t>Consumo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Contexto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Importancia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6123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A29FA0-1F2E-61F5-2E53-033C20A0D71F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8000" dirty="0">
                <a:solidFill>
                  <a:schemeClr val="bg1"/>
                </a:solidFill>
              </a:rPr>
              <a:t>Introducción a modelos input-output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3A31A-3816-7EF6-A5AF-C60B386A4807}"/>
              </a:ext>
            </a:extLst>
          </p:cNvPr>
          <p:cNvSpPr txBox="1">
            <a:spLocks/>
          </p:cNvSpPr>
          <p:nvPr/>
        </p:nvSpPr>
        <p:spPr>
          <a:xfrm>
            <a:off x="375920" y="1891970"/>
            <a:ext cx="1098296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 sz="2800"/>
            </a:pPr>
            <a:r>
              <a:rPr lang="es-ES" sz="2800" dirty="0"/>
              <a:t>• Los modelos input-output se basan en tablas que muestran las </a:t>
            </a:r>
            <a:r>
              <a:rPr lang="es-ES" sz="2800" u="sng" dirty="0"/>
              <a:t>interdependencias</a:t>
            </a:r>
            <a:r>
              <a:rPr lang="es-ES" sz="2800" dirty="0"/>
              <a:t> entre sectores económicos (y “agentes”) .</a:t>
            </a:r>
          </a:p>
          <a:p>
            <a:pPr lvl="1">
              <a:defRPr sz="2800"/>
            </a:pPr>
            <a:br>
              <a:rPr lang="es-ES" sz="2800" dirty="0"/>
            </a:br>
            <a:r>
              <a:rPr lang="es-ES" sz="2800" dirty="0"/>
              <a:t>• Estos modelos se utilizan frecuentemente para </a:t>
            </a:r>
            <a:r>
              <a:rPr lang="es-ES" sz="2800" u="sng" dirty="0"/>
              <a:t>analizar el impacto de diferentes tipos de demanda en la economía</a:t>
            </a:r>
            <a:r>
              <a:rPr lang="es-ES" sz="2800" dirty="0"/>
              <a:t>.</a:t>
            </a:r>
          </a:p>
          <a:p>
            <a:pPr lvl="1">
              <a:defRPr sz="2800"/>
            </a:pPr>
            <a:endParaRPr lang="es-ES" sz="2800" dirty="0"/>
          </a:p>
          <a:p>
            <a:pPr marL="914400" lvl="1" indent="-457200">
              <a:buFont typeface="Arial" panose="020B0604020202020204" pitchFamily="34" charset="0"/>
              <a:buChar char="•"/>
              <a:defRPr sz="2800"/>
            </a:pPr>
            <a:r>
              <a:rPr lang="es-ES" sz="2800" dirty="0"/>
              <a:t>En la Integración de microdatos en agregados nacionales,</a:t>
            </a:r>
          </a:p>
          <a:p>
            <a:pPr lvl="1">
              <a:defRPr sz="2800"/>
            </a:pPr>
            <a:r>
              <a:rPr lang="es-ES" sz="2800" b="1" dirty="0"/>
              <a:t>Encontramos </a:t>
            </a:r>
            <a:r>
              <a:rPr lang="es-ES" b="1" dirty="0"/>
              <a:t>Problemas</a:t>
            </a:r>
            <a:r>
              <a:rPr lang="es-ES" dirty="0"/>
              <a:t> asociados con la </a:t>
            </a:r>
            <a:r>
              <a:rPr lang="es-ES" u="sng" dirty="0"/>
              <a:t>falta de conocimiento/transparencia sobre inconsistencias </a:t>
            </a:r>
            <a:r>
              <a:rPr lang="es-ES" u="sng" dirty="0" err="1"/>
              <a:t>micro-macro</a:t>
            </a:r>
            <a:r>
              <a:rPr lang="es-ES" dirty="0"/>
              <a:t>, y de </a:t>
            </a:r>
            <a:r>
              <a:rPr lang="es-ES" u="sng" dirty="0"/>
              <a:t>disponibilidad pública de matrices de contingencia </a:t>
            </a:r>
            <a:r>
              <a:rPr lang="es-ES" dirty="0"/>
              <a:t>(matrices puente), y de diferencias en los métodos de </a:t>
            </a:r>
            <a:r>
              <a:rPr lang="es-ES" u="sng" dirty="0"/>
              <a:t>valoración</a:t>
            </a:r>
            <a:r>
              <a:rPr lang="es-ES" dirty="0"/>
              <a:t>, etc.</a:t>
            </a:r>
            <a:br>
              <a:rPr lang="es-ES" sz="2800" dirty="0"/>
            </a:b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731847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A29FA0-1F2E-61F5-2E53-033C20A0D71F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Objetivos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334093-7BD9-AEDC-F875-F25E5E63E608}"/>
              </a:ext>
            </a:extLst>
          </p:cNvPr>
          <p:cNvSpPr txBox="1"/>
          <p:nvPr/>
        </p:nvSpPr>
        <p:spPr>
          <a:xfrm>
            <a:off x="459350" y="1891970"/>
            <a:ext cx="11417694" cy="4671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s-ES" sz="2800" b="1" dirty="0"/>
              <a:t>Objetivo principal: </a:t>
            </a:r>
            <a:r>
              <a:rPr lang="es-ES" sz="2800" u="sng" dirty="0"/>
              <a:t>Integrar datos detallados de encuestas de consumo con modelos económicos multisectoriales</a:t>
            </a:r>
            <a:r>
              <a:rPr lang="es-ES" sz="2800" dirty="0"/>
              <a:t>, mejorando la precisión y pertinencia de los modelos.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endParaRPr lang="es-ES" sz="24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400" b="1" dirty="0"/>
              <a:t>-    </a:t>
            </a:r>
            <a:r>
              <a:rPr lang="es-ES" sz="2800" b="1" dirty="0"/>
              <a:t>Objetivos derivados: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Mejorar la precisión de las previsiones económicas incluyendo patrones reales de consumo.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s-E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Facilitar la toma de decisiones políticas mejor informadas al proporcionar información más detallada sobre el comportamiento de los consumidores.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3053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A29FA0-1F2E-61F5-2E53-033C20A0D71F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Objetivos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Curso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4EBB026-533E-962F-F641-BA7547DD67F5}"/>
              </a:ext>
            </a:extLst>
          </p:cNvPr>
          <p:cNvSpPr txBox="1">
            <a:spLocks/>
          </p:cNvSpPr>
          <p:nvPr/>
        </p:nvSpPr>
        <p:spPr>
          <a:xfrm>
            <a:off x="459350" y="2037499"/>
            <a:ext cx="11176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 sz="2800"/>
            </a:pPr>
            <a:endParaRPr lang="es-ES" sz="2800" dirty="0"/>
          </a:p>
          <a:p>
            <a:pPr lvl="1">
              <a:defRPr sz="2800"/>
            </a:pPr>
            <a:r>
              <a:rPr lang="es-ES" sz="2800" dirty="0"/>
              <a:t>• Transmitir la </a:t>
            </a:r>
            <a:r>
              <a:rPr lang="es-ES" sz="2800" u="sng" dirty="0"/>
              <a:t>importancia/magnitud </a:t>
            </a:r>
            <a:r>
              <a:rPr lang="es-ES" sz="2800" dirty="0"/>
              <a:t>de las cuestiones vinculadas a la </a:t>
            </a:r>
            <a:r>
              <a:rPr lang="es-ES" sz="2800" u="sng" dirty="0"/>
              <a:t>heterogeneidad de hogares.</a:t>
            </a:r>
          </a:p>
          <a:p>
            <a:pPr lvl="1">
              <a:defRPr sz="2800"/>
            </a:pPr>
            <a:endParaRPr lang="es-ES" sz="2800" u="sng" dirty="0"/>
          </a:p>
          <a:p>
            <a:pPr lvl="1">
              <a:defRPr sz="2800"/>
            </a:pPr>
            <a:r>
              <a:rPr lang="es-ES" sz="2800" dirty="0"/>
              <a:t>• Proporcionar </a:t>
            </a:r>
            <a:r>
              <a:rPr lang="es-ES" sz="2800" u="sng" dirty="0"/>
              <a:t>conocimientos y herramientas para integrar distintos perfiles de consumidores </a:t>
            </a:r>
            <a:r>
              <a:rPr lang="es-ES" sz="2800" dirty="0"/>
              <a:t>en modelos multisectoriales.</a:t>
            </a:r>
          </a:p>
          <a:p>
            <a:pPr lvl="1">
              <a:defRPr sz="2800"/>
            </a:pPr>
            <a:br>
              <a:rPr lang="es-ES" sz="2800" dirty="0"/>
            </a:br>
            <a:r>
              <a:rPr lang="es-ES" sz="2800" dirty="0"/>
              <a:t>• </a:t>
            </a:r>
            <a:r>
              <a:rPr lang="es-ES" sz="2800" u="sng" dirty="0"/>
              <a:t>Aplicar metodologías en datos reales</a:t>
            </a:r>
            <a:r>
              <a:rPr lang="es-ES" sz="2800" dirty="0"/>
              <a:t>, </a:t>
            </a:r>
            <a:r>
              <a:rPr lang="es-ES" sz="2800" dirty="0" err="1"/>
              <a:t>e.g</a:t>
            </a:r>
            <a:r>
              <a:rPr lang="es-ES" sz="2800" dirty="0"/>
              <a:t>. para calcular </a:t>
            </a:r>
            <a:r>
              <a:rPr lang="es-ES" sz="2800" u="sng" dirty="0"/>
              <a:t>huellas</a:t>
            </a:r>
            <a:r>
              <a:rPr lang="es-ES" sz="2800" dirty="0"/>
              <a:t> medioambientales en España.</a:t>
            </a:r>
          </a:p>
        </p:txBody>
      </p:sp>
    </p:spTree>
    <p:extLst>
      <p:ext uri="{BB962C8B-B14F-4D97-AF65-F5344CB8AC3E}">
        <p14:creationId xmlns:p14="http://schemas.microsoft.com/office/powerpoint/2010/main" val="3828310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A29FA0-1F2E-61F5-2E53-033C20A0D71F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8000" dirty="0">
                <a:solidFill>
                  <a:schemeClr val="bg1"/>
                </a:solidFill>
              </a:rPr>
              <a:t>Contenido del Curso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4D10BD4-76F0-4FC7-6F43-AB51AB55CA3F}"/>
              </a:ext>
            </a:extLst>
          </p:cNvPr>
          <p:cNvSpPr txBox="1">
            <a:spLocks/>
          </p:cNvSpPr>
          <p:nvPr/>
        </p:nvSpPr>
        <p:spPr>
          <a:xfrm>
            <a:off x="-467360" y="2100283"/>
            <a:ext cx="12374880" cy="460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 sz="2800"/>
            </a:pPr>
            <a:r>
              <a:rPr lang="es-ES" sz="2800" dirty="0"/>
              <a:t>• </a:t>
            </a:r>
            <a:r>
              <a:rPr lang="es-ES" sz="2800" b="1" dirty="0"/>
              <a:t>Temas principales:</a:t>
            </a:r>
          </a:p>
          <a:p>
            <a:pPr lvl="1">
              <a:defRPr sz="2800"/>
            </a:pPr>
            <a:br>
              <a:rPr lang="es-ES" sz="2800" dirty="0"/>
            </a:br>
            <a:r>
              <a:rPr lang="es-ES" sz="2800" dirty="0"/>
              <a:t>  1. Discrepancias entre microdatos de consumo y tablas IO.</a:t>
            </a:r>
          </a:p>
          <a:p>
            <a:pPr lvl="1">
              <a:defRPr sz="2800"/>
            </a:pPr>
            <a:br>
              <a:rPr lang="es-ES" sz="2800" dirty="0"/>
            </a:br>
            <a:r>
              <a:rPr lang="es-ES" sz="2800" dirty="0"/>
              <a:t>  2. Integración de microdatos de consumo en modelos IO (Teoría y Práctica).</a:t>
            </a:r>
          </a:p>
          <a:p>
            <a:pPr lvl="1">
              <a:defRPr sz="2800"/>
            </a:pPr>
            <a:br>
              <a:rPr lang="es-ES" sz="2800" dirty="0"/>
            </a:br>
            <a:r>
              <a:rPr lang="es-ES" sz="2800" dirty="0"/>
              <a:t>  3. Aplicación real de la metodología.</a:t>
            </a:r>
          </a:p>
        </p:txBody>
      </p:sp>
    </p:spTree>
    <p:extLst>
      <p:ext uri="{BB962C8B-B14F-4D97-AF65-F5344CB8AC3E}">
        <p14:creationId xmlns:p14="http://schemas.microsoft.com/office/powerpoint/2010/main" val="3243582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ídeo 3" descr="Moving Gears">
            <a:extLst>
              <a:ext uri="{FF2B5EF4-FFF2-40B4-BE49-F238E27FC236}">
                <a16:creationId xmlns:a16="http://schemas.microsoft.com/office/drawing/2014/main" id="{50CAFEC3-AB3E-F048-4BBE-0CD248A48C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8663EEB-6258-6D81-9640-78FC23CAD354}"/>
              </a:ext>
            </a:extLst>
          </p:cNvPr>
          <p:cNvSpPr txBox="1"/>
          <p:nvPr/>
        </p:nvSpPr>
        <p:spPr>
          <a:xfrm>
            <a:off x="1097280" y="325550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Metodología</a:t>
            </a:r>
            <a:r>
              <a:rPr lang="en-US" sz="52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782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hlinkClick r:id="rId3"/>
            <a:extLst>
              <a:ext uri="{FF2B5EF4-FFF2-40B4-BE49-F238E27FC236}">
                <a16:creationId xmlns:a16="http://schemas.microsoft.com/office/drawing/2014/main" id="{2AC09CA2-B857-BC0D-93C4-154AD9FAB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54" y="1854326"/>
            <a:ext cx="5534623" cy="300357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D7CF43D-37C1-6FDA-4F9D-BA9A7FC65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286" y="1745436"/>
            <a:ext cx="4126514" cy="264862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614F05D-1FBF-1FFE-F229-9650A452754E}"/>
              </a:ext>
            </a:extLst>
          </p:cNvPr>
          <p:cNvSpPr txBox="1"/>
          <p:nvPr/>
        </p:nvSpPr>
        <p:spPr>
          <a:xfrm>
            <a:off x="80682" y="1354042"/>
            <a:ext cx="934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Vinculación de datos micro a macro a través de matrices de contingencia (COICOP-CPA)</a:t>
            </a:r>
            <a:endParaRPr lang="es-ES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CCEF13-1164-0E69-F8FF-B5FF84F9C135}"/>
              </a:ext>
            </a:extLst>
          </p:cNvPr>
          <p:cNvSpPr txBox="1"/>
          <p:nvPr/>
        </p:nvSpPr>
        <p:spPr>
          <a:xfrm>
            <a:off x="411554" y="4995828"/>
            <a:ext cx="6011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Pasar de los precios de compra a los precios básicos (como la mayoría de las tablas de IO)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9D25AAA-E533-DA2D-D55D-9CB457A74D72}"/>
              </a:ext>
            </a:extLst>
          </p:cNvPr>
          <p:cNvSpPr txBox="1"/>
          <p:nvPr/>
        </p:nvSpPr>
        <p:spPr>
          <a:xfrm>
            <a:off x="411573" y="244499"/>
            <a:ext cx="113688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Asunción de un único agente representativo </a:t>
            </a:r>
            <a:r>
              <a:rPr lang="es-ES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ampliamente</a:t>
            </a:r>
            <a:r>
              <a:rPr lang="es-ES" b="1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criticada </a:t>
            </a:r>
            <a:r>
              <a:rPr lang="es-ES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ES" dirty="0" err="1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Kirman</a:t>
            </a:r>
            <a:r>
              <a:rPr lang="es-ES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1992; </a:t>
            </a:r>
            <a:r>
              <a:rPr lang="es-ES" dirty="0" err="1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Brock</a:t>
            </a:r>
            <a:r>
              <a:rPr lang="es-ES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s-ES" dirty="0" err="1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Durlauf</a:t>
            </a:r>
            <a:r>
              <a:rPr lang="es-ES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2001; </a:t>
            </a:r>
            <a:r>
              <a:rPr lang="es-ES" dirty="0" err="1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Savard</a:t>
            </a:r>
            <a:r>
              <a:rPr lang="es-ES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2004; </a:t>
            </a:r>
            <a:r>
              <a:rPr lang="es-ES" dirty="0" err="1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Lehtinen</a:t>
            </a:r>
            <a:r>
              <a:rPr lang="es-ES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s-ES" dirty="0" err="1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Kuorikoski</a:t>
            </a:r>
            <a:r>
              <a:rPr lang="es-ES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2007; </a:t>
            </a:r>
            <a:r>
              <a:rPr lang="es-ES" dirty="0" err="1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Hoover</a:t>
            </a:r>
            <a:r>
              <a:rPr lang="es-ES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2008; Stiglitz, 2018) </a:t>
            </a:r>
            <a:r>
              <a:rPr lang="es-ES" b="1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la inclusión de perfiles heterogéneos de hogares en la modelización económica</a:t>
            </a:r>
            <a:endParaRPr lang="es-ES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D789000-FD44-FB6E-F450-3D762D36E0B0}"/>
              </a:ext>
            </a:extLst>
          </p:cNvPr>
          <p:cNvSpPr txBox="1"/>
          <p:nvPr/>
        </p:nvSpPr>
        <p:spPr>
          <a:xfrm>
            <a:off x="411554" y="5874065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También se dan pistas sobre la actualización de esas “matrices puente”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D984392-FFCF-28E0-EDDA-DF8AAD694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4369" y="3852091"/>
            <a:ext cx="3913430" cy="294404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C1870FB-C979-9A17-A9DB-D37F365506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4407" y="1640525"/>
            <a:ext cx="2807593" cy="203688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DE98C4B-5BEE-4453-5D3F-A633A9C1D93B}"/>
              </a:ext>
            </a:extLst>
          </p:cNvPr>
          <p:cNvSpPr txBox="1"/>
          <p:nvPr/>
        </p:nvSpPr>
        <p:spPr>
          <a:xfrm>
            <a:off x="726830" y="6401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EXIOBASE CPA-based categories to COICOP, e.g.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(Malliet, 2022)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4606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9F782E8-82A5-7FA4-79C2-8ABEA632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64017"/>
            <a:ext cx="7162486" cy="447896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D7438F1-C271-582A-EDE8-6CE5826A399E}"/>
              </a:ext>
            </a:extLst>
          </p:cNvPr>
          <p:cNvSpPr txBox="1"/>
          <p:nvPr/>
        </p:nvSpPr>
        <p:spPr>
          <a:xfrm>
            <a:off x="311972" y="315020"/>
            <a:ext cx="10767508" cy="176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>
                <a:solidFill>
                  <a:srgbClr val="FF0000"/>
                </a:solidFill>
              </a:rPr>
              <a:t>Metodología</a:t>
            </a:r>
            <a:r>
              <a:rPr lang="es-ES" b="1" dirty="0">
                <a:solidFill>
                  <a:srgbClr val="FF0000"/>
                </a:solidFill>
              </a:rPr>
              <a:t>
	</a:t>
            </a:r>
            <a:r>
              <a:rPr lang="es-ES" b="1" u="sng" dirty="0"/>
              <a:t>4 pasos clave:</a:t>
            </a:r>
            <a:r>
              <a:rPr lang="es-ES" b="1" dirty="0"/>
              <a:t>
</a:t>
            </a:r>
            <a:r>
              <a:rPr lang="es-ES" b="1" dirty="0">
                <a:solidFill>
                  <a:srgbClr val="0070C0"/>
                </a:solidFill>
              </a:rPr>
              <a:t>1 Alinear los microdatos con las cuentas nacionales (NA): </a:t>
            </a:r>
            <a:r>
              <a:rPr lang="es-ES" dirty="0">
                <a:solidFill>
                  <a:srgbClr val="0070C0"/>
                </a:solidFill>
              </a:rPr>
              <a:t>Ajustar los datos de las encuestas para que se ajusten a los principios de NA.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BAFDC6-5F3A-0FAE-2A5A-62C121FBC527}"/>
              </a:ext>
            </a:extLst>
          </p:cNvPr>
          <p:cNvSpPr txBox="1"/>
          <p:nvPr/>
        </p:nvSpPr>
        <p:spPr>
          <a:xfrm>
            <a:off x="-127000" y="2224206"/>
            <a:ext cx="5506720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s-ES" b="1" dirty="0"/>
              <a:t>2 Clasificaciones puente (bridge): </a:t>
            </a:r>
            <a:r>
              <a:rPr lang="es-ES" dirty="0"/>
              <a:t>Conversión de datos de consumo de COICOP a CPA.</a:t>
            </a:r>
            <a:r>
              <a:rPr lang="es-ES" b="1" dirty="0"/>
              <a:t>
3 Conversión de valoración: </a:t>
            </a:r>
            <a:r>
              <a:rPr lang="es-ES" dirty="0"/>
              <a:t>Modificación de los datos de consumo de precios de adquisición a precios básicos.</a:t>
            </a:r>
            <a:r>
              <a:rPr lang="es-ES" b="1" dirty="0"/>
              <a:t>
4 Ajuste a las clasificaciones de la industria (si es necesario): </a:t>
            </a:r>
            <a:r>
              <a:rPr lang="es-ES" dirty="0"/>
              <a:t>Transformar los datos basados en productos en clasificaciones de la industria si es necesario.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FBDB6BD-7754-0ED6-FDFA-9A83C708525E}"/>
              </a:ext>
            </a:extLst>
          </p:cNvPr>
          <p:cNvSpPr/>
          <p:nvPr/>
        </p:nvSpPr>
        <p:spPr>
          <a:xfrm>
            <a:off x="5379719" y="3711389"/>
            <a:ext cx="2075329" cy="23046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897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A29FA0-1F2E-61F5-2E53-033C20A0D71F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8000" b="1" dirty="0">
                <a:solidFill>
                  <a:schemeClr val="bg1"/>
                </a:solidFill>
              </a:rPr>
              <a:t>Alinear los microdatos con las cuentas nacionales (NA)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EB836-2FA3-EF48-1953-CAF481D83D38}"/>
              </a:ext>
            </a:extLst>
          </p:cNvPr>
          <p:cNvSpPr txBox="1">
            <a:spLocks/>
          </p:cNvSpPr>
          <p:nvPr/>
        </p:nvSpPr>
        <p:spPr>
          <a:xfrm>
            <a:off x="721360" y="2128520"/>
            <a:ext cx="10078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 sz="2800"/>
            </a:pPr>
            <a:r>
              <a:rPr lang="es-ES" sz="2800" dirty="0"/>
              <a:t>• Diferencias en principios y fuentes de datos.</a:t>
            </a:r>
          </a:p>
          <a:p>
            <a:pPr lvl="1">
              <a:defRPr sz="2800"/>
            </a:pPr>
            <a:br>
              <a:rPr lang="es-ES" sz="2800" dirty="0"/>
            </a:br>
            <a:r>
              <a:rPr lang="es-ES" sz="2800" dirty="0"/>
              <a:t>• Las </a:t>
            </a:r>
            <a:r>
              <a:rPr lang="es-ES" sz="2800" u="sng" dirty="0"/>
              <a:t>tablas IO </a:t>
            </a:r>
            <a:r>
              <a:rPr lang="es-ES" sz="2800" dirty="0"/>
              <a:t>se basan en agregados macroeconómicos (con criterios de cuentas nacionales),</a:t>
            </a:r>
          </a:p>
          <a:p>
            <a:pPr lvl="1">
              <a:defRPr sz="2800"/>
            </a:pPr>
            <a:endParaRPr lang="es-ES" sz="2800" dirty="0"/>
          </a:p>
          <a:p>
            <a:pPr lvl="1">
              <a:defRPr sz="2800"/>
            </a:pPr>
            <a:r>
              <a:rPr lang="es-ES" sz="2800" dirty="0"/>
              <a:t> mientras que los microdatos provienen de </a:t>
            </a:r>
            <a:r>
              <a:rPr lang="es-ES" sz="2800" u="sng" dirty="0"/>
              <a:t>encuestas específicas a hogares</a:t>
            </a:r>
            <a:r>
              <a:rPr lang="es-ES" sz="2800" dirty="0"/>
              <a:t> (lógicas de </a:t>
            </a:r>
            <a:r>
              <a:rPr lang="es-ES" sz="2800" dirty="0" err="1"/>
              <a:t>ciudadan@s</a:t>
            </a:r>
            <a:r>
              <a:rPr lang="es-ES" sz="2800" dirty="0"/>
              <a:t>) que respondemos a en qué gastamos el dinero.</a:t>
            </a:r>
          </a:p>
        </p:txBody>
      </p:sp>
    </p:spTree>
    <p:extLst>
      <p:ext uri="{BB962C8B-B14F-4D97-AF65-F5344CB8AC3E}">
        <p14:creationId xmlns:p14="http://schemas.microsoft.com/office/powerpoint/2010/main" val="10115436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A29FA0-1F2E-61F5-2E53-033C20A0D71F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Ejemplos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Bases de Datos de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Consumo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BB4335-407E-BEFE-CC4B-C64DDE3255C5}"/>
              </a:ext>
            </a:extLst>
          </p:cNvPr>
          <p:cNvSpPr txBox="1"/>
          <p:nvPr/>
        </p:nvSpPr>
        <p:spPr>
          <a:xfrm>
            <a:off x="229675" y="1965247"/>
            <a:ext cx="1173264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Global </a:t>
            </a:r>
            <a:r>
              <a:rPr lang="es-ES" sz="2800" dirty="0" err="1"/>
              <a:t>Consumption</a:t>
            </a:r>
            <a:r>
              <a:rPr lang="es-ES" sz="2800" dirty="0"/>
              <a:t> </a:t>
            </a:r>
            <a:r>
              <a:rPr lang="es-ES" sz="2800" dirty="0" err="1"/>
              <a:t>Database</a:t>
            </a:r>
            <a:r>
              <a:rPr lang="es-ES" sz="2800" dirty="0"/>
              <a:t> (GCD) del Banco Mundial: 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atrones de consumo a escala nacional, distinguiendo entre </a:t>
            </a:r>
            <a:r>
              <a:rPr lang="es-E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zonas urbanas y rurales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niveles de renta (más bajo, bajo, medio y alto, según distribución mundial de la renta) en 92 países para el año 2010. </a:t>
            </a:r>
            <a:endParaRPr lang="es-ES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429C0D-348B-D203-99BA-EB9219462085}"/>
              </a:ext>
            </a:extLst>
          </p:cNvPr>
          <p:cNvSpPr txBox="1"/>
          <p:nvPr/>
        </p:nvSpPr>
        <p:spPr>
          <a:xfrm>
            <a:off x="229674" y="3104020"/>
            <a:ext cx="117637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err="1"/>
              <a:t>Household</a:t>
            </a:r>
            <a:r>
              <a:rPr lang="es-ES" sz="2800" dirty="0"/>
              <a:t> Budget </a:t>
            </a:r>
            <a:r>
              <a:rPr lang="es-ES" sz="2800" dirty="0" err="1"/>
              <a:t>Survey</a:t>
            </a:r>
            <a:r>
              <a:rPr lang="es-ES" sz="2800" dirty="0"/>
              <a:t> (HBS) de Eurostat: 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recoge datos sobre el gasto en consumo de los hogares en unidades monetarias siguiendo la clasificación del consumo individual por finalidad </a:t>
            </a:r>
            <a:r>
              <a:rPr lang="es-ES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COICOP (</a:t>
            </a:r>
            <a:r>
              <a:rPr lang="es-ES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</a:t>
            </a:r>
            <a:r>
              <a:rPr lang="es-E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</a:t>
            </a:r>
            <a:r>
              <a:rPr lang="es-E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Individual </a:t>
            </a:r>
            <a:r>
              <a:rPr lang="es-ES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Consumption</a:t>
            </a:r>
            <a:r>
              <a:rPr lang="es-E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by</a:t>
            </a:r>
            <a:r>
              <a:rPr lang="es-E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Purpose</a:t>
            </a:r>
            <a:r>
              <a:rPr lang="es-ES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 a 5 dígitos 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 incluye </a:t>
            </a:r>
            <a:r>
              <a:rPr lang="es-ES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varias variables sociodemográficas de los hogares y sus miembros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Eurostat ofrece tres oleadas de la HBS: </a:t>
            </a:r>
            <a:r>
              <a:rPr lang="es-ES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2010, 2015 y 2020 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que cubren la mayoría de países de la UE.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E3265A4-3564-F5C7-56DE-B289DD4C4A57}"/>
              </a:ext>
            </a:extLst>
          </p:cNvPr>
          <p:cNvSpPr txBox="1"/>
          <p:nvPr/>
        </p:nvSpPr>
        <p:spPr>
          <a:xfrm>
            <a:off x="428287" y="4841628"/>
            <a:ext cx="1153403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 - </a:t>
            </a:r>
            <a:r>
              <a:rPr lang="es-ES" sz="2400" dirty="0"/>
              <a:t>Encuesta de consumo de hogares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i.e., Encuesta de Presupuestos Familiares (</a:t>
            </a:r>
            <a:r>
              <a:rPr lang="es-E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2"/>
              </a:rPr>
              <a:t>EPF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 </a:t>
            </a:r>
            <a:r>
              <a:rPr lang="es-ES" sz="2400" dirty="0"/>
              <a:t>de España 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del INE</a:t>
            </a:r>
          </a:p>
          <a:p>
            <a:endParaRPr lang="es-E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Gasto en consumo de bienes y servicios de los hogares en unidades monetarias (para todos los artículos) </a:t>
            </a:r>
            <a:r>
              <a:rPr lang="es-ES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 en unidades físicas (sólo para las categorías de alimentos y energía) 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siguiendo la clasificación 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</a:rPr>
              <a:t>(E)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COICOP.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8459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A29FA0-1F2E-61F5-2E53-033C20A0D71F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8000" b="1" dirty="0">
                <a:solidFill>
                  <a:schemeClr val="bg1"/>
                </a:solidFill>
              </a:rPr>
              <a:t>Alinear los microdatos con las cuentas nacionales (NA)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2BB4445-3E2F-2557-C856-896E394DB8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3" y="1885279"/>
                <a:ext cx="11840311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>
                  <a:defRPr sz="2800"/>
                </a:pPr>
                <a:r>
                  <a:rPr lang="es-ES" sz="2800" dirty="0"/>
                  <a:t>• </a:t>
                </a:r>
                <a:r>
                  <a:rPr lang="es-ES" sz="2800" b="1" dirty="0"/>
                  <a:t>Ratio de Cobertura (RC) </a:t>
                </a:r>
                <a:r>
                  <a:rPr lang="es-ES" sz="2800" dirty="0"/>
                  <a:t>para cada grupo de gasto g-&gt;</a:t>
                </a:r>
              </a:p>
              <a:p>
                <a:pPr lvl="1">
                  <a:defRPr sz="2800"/>
                </a:pPr>
                <a:r>
                  <a:rPr lang="es-ES" sz="2800" dirty="0"/>
                  <a:t>datos de las encuestas de consumo de hogares (</a:t>
                </a:r>
                <a14:m>
                  <m:oMath xmlns:m="http://schemas.openxmlformats.org/officeDocument/2006/math">
                    <m:r>
                      <a:rPr lang="es-ES" sz="2800" i="1">
                        <a:latin typeface="Cambria Math" panose="02040503050406030204" pitchFamily="18" charset="0"/>
                      </a:rPr>
                      <m:t>𝐸𝐶𝐻</m:t>
                    </m:r>
                  </m:oMath>
                </a14:m>
                <a:r>
                  <a:rPr lang="es-ES" sz="2800" dirty="0"/>
                  <a:t>) agregados / </a:t>
                </a:r>
                <a:r>
                  <a:rPr lang="es-ES" sz="2800" dirty="0" err="1"/>
                  <a:t>macroagregados</a:t>
                </a:r>
                <a:r>
                  <a:rPr lang="es-ES" sz="2800" dirty="0"/>
                  <a:t> en la contabilidad nacional (</a:t>
                </a:r>
                <a14:m>
                  <m:oMath xmlns:m="http://schemas.openxmlformats.org/officeDocument/2006/math">
                    <m:r>
                      <a:rPr lang="es-ES" sz="2800" i="1">
                        <a:latin typeface="Cambria Math" panose="02040503050406030204" pitchFamily="18" charset="0"/>
                      </a:rPr>
                      <m:t>𝐶𝑁</m:t>
                    </m:r>
                  </m:oMath>
                </a14:m>
                <a:r>
                  <a:rPr lang="es-ES" sz="2800" dirty="0"/>
                  <a:t>):</a:t>
                </a:r>
                <a:br>
                  <a:rPr lang="es-ES" sz="2800" dirty="0"/>
                </a:br>
                <a:br>
                  <a:rPr lang="es-ES" sz="2800" dirty="0"/>
                </a:br>
                <a:br>
                  <a:rPr lang="es-ES" sz="2800" dirty="0"/>
                </a:br>
                <a:br>
                  <a:rPr lang="es-ES" sz="2800" dirty="0"/>
                </a:br>
                <a:endParaRPr lang="es-ES" sz="2800" dirty="0"/>
              </a:p>
              <a:p>
                <a:pPr lvl="1">
                  <a:defRPr sz="2800"/>
                </a:pPr>
                <a:r>
                  <a:rPr lang="es-ES" sz="2800" dirty="0"/>
                  <a:t>• Interpretación:</a:t>
                </a:r>
                <a:br>
                  <a:rPr lang="es-ES" sz="2800" dirty="0"/>
                </a:br>
                <a:r>
                  <a:rPr lang="es-ES" sz="2800" dirty="0"/>
                  <a:t>  - </a:t>
                </a:r>
                <a:r>
                  <a:rPr lang="es-ES" sz="2800" dirty="0" err="1"/>
                  <a:t>RC_g</a:t>
                </a:r>
                <a:r>
                  <a:rPr lang="es-ES" sz="2800" dirty="0"/>
                  <a:t> = 100: No hay diferencia.</a:t>
                </a:r>
                <a:br>
                  <a:rPr lang="es-ES" sz="2800" dirty="0"/>
                </a:br>
                <a:r>
                  <a:rPr lang="es-ES" sz="2800" dirty="0"/>
                  <a:t>  - </a:t>
                </a:r>
                <a:r>
                  <a:rPr lang="es-ES" sz="2800" dirty="0" err="1"/>
                  <a:t>RC_g</a:t>
                </a:r>
                <a:r>
                  <a:rPr lang="es-ES" sz="2800" dirty="0"/>
                  <a:t> &gt; 100: Sobreestimación.</a:t>
                </a:r>
                <a:br>
                  <a:rPr lang="es-ES" sz="2800" dirty="0"/>
                </a:br>
                <a:r>
                  <a:rPr lang="es-ES" sz="2800" dirty="0"/>
                  <a:t>- </a:t>
                </a:r>
                <a:r>
                  <a:rPr lang="es-ES" sz="2800" dirty="0" err="1"/>
                  <a:t>RC_g</a:t>
                </a:r>
                <a:r>
                  <a:rPr lang="es-ES" sz="2800" dirty="0"/>
                  <a:t> &lt; 100: Subestimación.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2BB4445-3E2F-2557-C856-896E394DB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" y="1885279"/>
                <a:ext cx="11840311" cy="4525963"/>
              </a:xfrm>
              <a:prstGeom prst="rect">
                <a:avLst/>
              </a:prstGeom>
              <a:blipFill>
                <a:blip r:embed="rId2"/>
                <a:stretch>
                  <a:fillRect t="-2288" b="-188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A4CC9F1E-E201-9F1E-EA06-D01432021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3296771"/>
            <a:ext cx="3187833" cy="121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76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/>
            </a:pPr>
            <a:r>
              <a:t>Diferencias entre Microdatos y Tablas 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813902"/>
            <a:ext cx="11353800" cy="4351338"/>
          </a:xfrm>
        </p:spPr>
        <p:txBody>
          <a:bodyPr>
            <a:normAutofit/>
          </a:bodyPr>
          <a:lstStyle/>
          <a:p>
            <a:pPr marL="457200" lvl="1" indent="0">
              <a:buNone/>
              <a:defRPr sz="2800"/>
            </a:pPr>
            <a:r>
              <a:rPr dirty="0"/>
              <a:t>• </a:t>
            </a:r>
            <a:r>
              <a:rPr dirty="0" err="1"/>
              <a:t>Discrepancias</a:t>
            </a:r>
            <a:r>
              <a:rPr dirty="0"/>
              <a:t> </a:t>
            </a:r>
            <a:r>
              <a:rPr dirty="0" err="1"/>
              <a:t>metodológicas</a:t>
            </a:r>
            <a:r>
              <a:rPr dirty="0"/>
              <a:t> y </a:t>
            </a:r>
            <a:r>
              <a:rPr dirty="0" err="1"/>
              <a:t>conceptuales</a:t>
            </a:r>
            <a:r>
              <a:rPr dirty="0"/>
              <a:t>.</a:t>
            </a:r>
            <a:endParaRPr lang="es-ES" dirty="0"/>
          </a:p>
          <a:p>
            <a:pPr marL="457200" lvl="1" indent="0">
              <a:buNone/>
              <a:defRPr sz="2800"/>
            </a:pPr>
            <a:endParaRPr lang="es-ES" dirty="0"/>
          </a:p>
          <a:p>
            <a:pPr marL="457200" lvl="1" indent="0">
              <a:buNone/>
              <a:defRPr sz="2800"/>
            </a:pPr>
            <a:r>
              <a:rPr lang="es-ES" dirty="0"/>
              <a:t>• Factores que influyen en las discrepancias: Población, errores de medición, categorías de consumo.</a:t>
            </a:r>
          </a:p>
          <a:p>
            <a:pPr marL="457200" lvl="1" indent="0">
              <a:buNone/>
              <a:defRPr sz="2800"/>
            </a:pPr>
            <a:br>
              <a:rPr dirty="0"/>
            </a:br>
            <a:r>
              <a:rPr dirty="0"/>
              <a:t>• </a:t>
            </a:r>
            <a:r>
              <a:rPr dirty="0" err="1"/>
              <a:t>Ejemplo</a:t>
            </a:r>
            <a:r>
              <a:rPr dirty="0"/>
              <a:t> de </a:t>
            </a:r>
            <a:r>
              <a:rPr dirty="0" err="1"/>
              <a:t>diferencias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ratios de 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UE (</a:t>
            </a:r>
            <a:r>
              <a:rPr dirty="0" err="1"/>
              <a:t>Figura</a:t>
            </a:r>
            <a:r>
              <a:rPr dirty="0"/>
              <a:t> 2).</a:t>
            </a:r>
            <a:endParaRPr lang="es-ES" dirty="0"/>
          </a:p>
          <a:p>
            <a:pPr marL="457200" lvl="1" indent="0">
              <a:buNone/>
              <a:defRPr sz="2800"/>
            </a:pP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439FE2-3714-31D3-20A8-F96423963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84" y="613186"/>
            <a:ext cx="9740548" cy="537193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CB827C8-F44D-3E47-0D9F-C22801CB5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156" y="5200289"/>
            <a:ext cx="835152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dirty="0">
                <a:solidFill>
                  <a:srgbClr val="0070C0"/>
                </a:solidFill>
              </a:rPr>
              <a:t>Causas de las Discrepancias Observadas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Heterogeneidad en la cobertura entre países.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Calidad variable de los datos en las encuestas de consumo entre países.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Categorías difíciles de capturar como alcohol, tabaco y estupefacientes.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ES" dirty="0">
                <a:latin typeface="Arial" panose="020B0604020202020204" pitchFamily="34" charset="0"/>
              </a:rPr>
              <a:t>…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6798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A29FA0-1F2E-61F5-2E53-033C20A0D71F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r>
              <a:rPr lang="es-ES" sz="8000" dirty="0">
                <a:solidFill>
                  <a:schemeClr val="bg1"/>
                </a:solidFill>
              </a:rPr>
              <a:t>Diferencias Metodológicas entre Encuestas y Contabilidad Nacional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600A77F-E610-CC1B-E03C-936DA8E45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230" y="1433003"/>
            <a:ext cx="10625320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400" dirty="0">
                <a:latin typeface="Arial" panose="020B0604020202020204" pitchFamily="34" charset="0"/>
              </a:rPr>
              <a:t> Concepto de </a:t>
            </a:r>
            <a:r>
              <a:rPr lang="es-ES" altLang="es-ES" sz="2400" b="1" dirty="0">
                <a:latin typeface="Arial" panose="020B0604020202020204" pitchFamily="34" charset="0"/>
              </a:rPr>
              <a:t>consumo "nacional" vs. "doméstico".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400" dirty="0">
                <a:latin typeface="Arial" panose="020B0604020202020204" pitchFamily="34" charset="0"/>
              </a:rPr>
              <a:t> Y otras discrepancias en la </a:t>
            </a:r>
            <a:r>
              <a:rPr lang="es-ES" altLang="es-ES" sz="2400" b="1" dirty="0">
                <a:latin typeface="Arial" panose="020B0604020202020204" pitchFamily="34" charset="0"/>
              </a:rPr>
              <a:t>población de referencia </a:t>
            </a:r>
            <a:r>
              <a:rPr lang="es-ES" altLang="es-ES" sz="2400" dirty="0">
                <a:latin typeface="Arial" panose="020B0604020202020204" pitchFamily="34" charset="0"/>
              </a:rPr>
              <a:t>considerada.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</a:rPr>
              <a:t>Errores de Medición y Cobertura: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sz="2000" b="1" dirty="0">
                <a:latin typeface="Arial" panose="020B0604020202020204" pitchFamily="34" charset="0"/>
              </a:rPr>
              <a:t> - </a:t>
            </a:r>
            <a:r>
              <a:rPr lang="es-ES" sz="2000" dirty="0">
                <a:latin typeface="Arial" panose="020B0604020202020204" pitchFamily="34" charset="0"/>
              </a:rPr>
              <a:t>Errores </a:t>
            </a:r>
            <a:r>
              <a:rPr lang="es-ES" sz="2000" u="sng" dirty="0">
                <a:latin typeface="Arial" panose="020B0604020202020204" pitchFamily="34" charset="0"/>
              </a:rPr>
              <a:t>en la declaración de consumo </a:t>
            </a:r>
            <a:r>
              <a:rPr lang="es-ES" sz="2000" dirty="0">
                <a:latin typeface="Arial" panose="020B0604020202020204" pitchFamily="34" charset="0"/>
              </a:rPr>
              <a:t>de ciertos bienes (alcohol, tabaco).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sz="2000" dirty="0">
                <a:latin typeface="Arial" panose="020B0604020202020204" pitchFamily="34" charset="0"/>
              </a:rPr>
              <a:t> - Y en la </a:t>
            </a:r>
            <a:r>
              <a:rPr lang="es-ES" sz="2000" u="sng" dirty="0">
                <a:latin typeface="Arial" panose="020B0604020202020204" pitchFamily="34" charset="0"/>
              </a:rPr>
              <a:t>captura de hogares en los extremos </a:t>
            </a:r>
            <a:r>
              <a:rPr lang="es-ES" sz="2000" dirty="0">
                <a:latin typeface="Arial" panose="020B0604020202020204" pitchFamily="34" charset="0"/>
              </a:rPr>
              <a:t>de la distribución de ingresos</a:t>
            </a:r>
            <a:r>
              <a:rPr lang="es-ES" sz="2400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ES" sz="2400" dirty="0">
                <a:latin typeface="Arial" panose="020B0604020202020204" pitchFamily="34" charset="0"/>
              </a:rPr>
              <a:t> Discrepancias en las categorías de consumo consideradas.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altLang="es-ES" sz="12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Inconsistencias en las clasificaciones.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270BC9D-A991-20CA-9E83-86DA3C50B85B}"/>
              </a:ext>
            </a:extLst>
          </p:cNvPr>
          <p:cNvSpPr txBox="1"/>
          <p:nvPr/>
        </p:nvSpPr>
        <p:spPr>
          <a:xfrm>
            <a:off x="1178561" y="5599520"/>
            <a:ext cx="89750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Importancia de la Consistencia en la Integración de Datos</a:t>
            </a:r>
          </a:p>
          <a:p>
            <a:r>
              <a:rPr lang="es-ES" sz="2400" b="1" dirty="0">
                <a:solidFill>
                  <a:srgbClr val="0070C0"/>
                </a:solidFill>
              </a:rPr>
              <a:t>Se proporcionan factores de elevación, soluciones a gaps, etc.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9924ED2-3B7E-4343-2354-F0F743FE45D0}"/>
              </a:ext>
            </a:extLst>
          </p:cNvPr>
          <p:cNvCxnSpPr>
            <a:cxnSpLocks/>
          </p:cNvCxnSpPr>
          <p:nvPr/>
        </p:nvCxnSpPr>
        <p:spPr>
          <a:xfrm>
            <a:off x="7106894" y="4897120"/>
            <a:ext cx="0" cy="58928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948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95553-610D-4462-F1E3-2D4BF34D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362D87-6633-8FA2-5011-D8EB3F8BA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3B042E-6EAB-1A29-8422-7BD40D53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81DF3D-8CBB-33C7-D6EA-2CB58E22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71509D-0255-27DB-2C41-B0B741E4E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99B27A-F6A5-7B23-8567-3575EDDA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94FBFCA-6F32-EF36-2B43-B8D2850CA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61" y="1700613"/>
            <a:ext cx="1173264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Corrección de cobertura y partidas no observadas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La EPF excluye hogares colectivos (residencias, conventos). La CN los incluye.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No recoge consumos imputados: alquileres de propietarios, autoconsumo agrícola.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Subestima tabaco, alcohol, juego → ajuste con datos administrativos.</a:t>
            </a:r>
          </a:p>
          <a:p>
            <a:r>
              <a:rPr lang="es-ES" sz="2400" b="1" dirty="0"/>
              <a:t>Herramienta:</a:t>
            </a:r>
            <a:r>
              <a:rPr lang="es-ES" sz="2400" dirty="0"/>
              <a:t> guía Eurostat (2018a) con imputaciones de EU‑SILC y fuentes fiscales.</a:t>
            </a:r>
          </a:p>
          <a:p>
            <a:endParaRPr lang="es-ES" sz="2400" dirty="0"/>
          </a:p>
          <a:p>
            <a:r>
              <a:rPr lang="es-ES" sz="2400" b="1" dirty="0"/>
              <a:t>Del gasto de residentes al gasto en el territorio económico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La EPF mide gasto de hogares </a:t>
            </a:r>
            <a:r>
              <a:rPr lang="es-ES" sz="2400" i="1" dirty="0"/>
              <a:t>residentes</a:t>
            </a:r>
            <a:r>
              <a:rPr lang="es-ES" sz="2400" dirty="0"/>
              <a:t>, incluyendo compras en el extranjero.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La CN exige el gasto realizado </a:t>
            </a:r>
            <a:r>
              <a:rPr lang="es-ES" sz="2400" i="1" dirty="0"/>
              <a:t>dentro del territorio</a:t>
            </a:r>
            <a:r>
              <a:rPr lang="es-ES" sz="2400" dirty="0"/>
              <a:t> (consumo interior).</a:t>
            </a:r>
          </a:p>
          <a:p>
            <a:r>
              <a:rPr lang="es-ES" sz="2400" b="1" dirty="0"/>
              <a:t>Soluciones con matrices de paso/conversiones</a:t>
            </a:r>
            <a:endParaRPr lang="es-ES" sz="2400" dirty="0"/>
          </a:p>
          <a:p>
            <a:pPr lvl="1"/>
            <a:r>
              <a:rPr lang="es-ES" sz="2400" dirty="0"/>
              <a:t>(–) Compras de residentes en el extranjero (turismo, internet) → estimadas con balanza de pagos y encuesta de turismo.</a:t>
            </a:r>
          </a:p>
          <a:p>
            <a:pPr lvl="1"/>
            <a:r>
              <a:rPr lang="es-ES" sz="2400" dirty="0"/>
              <a:t>(+) Compras de no residentes en el país.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E04855-0937-DED5-6A94-E1DEFE803AB5}"/>
              </a:ext>
            </a:extLst>
          </p:cNvPr>
          <p:cNvSpPr txBox="1"/>
          <p:nvPr/>
        </p:nvSpPr>
        <p:spPr>
          <a:xfrm>
            <a:off x="914400" y="294538"/>
            <a:ext cx="11277595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r>
              <a:rPr lang="es-ES" sz="8000" dirty="0">
                <a:solidFill>
                  <a:schemeClr val="bg1"/>
                </a:solidFill>
              </a:rPr>
              <a:t>Lo que hacen (o deberían hacer) los Institutos de Estadística: Armonización de la EPF con el concepto interior de la CN</a:t>
            </a:r>
          </a:p>
        </p:txBody>
      </p:sp>
    </p:spTree>
    <p:extLst>
      <p:ext uri="{BB962C8B-B14F-4D97-AF65-F5344CB8AC3E}">
        <p14:creationId xmlns:p14="http://schemas.microsoft.com/office/powerpoint/2010/main" val="5059252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73796-48B9-AC4B-861C-67E20B8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4A974E-665F-AF98-6EBE-CC5BEB549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3DE68C-923F-5D9A-42E5-DE6F94661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3F1636-5D74-B8E5-8669-7B3B02D12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897921-F4BB-C9E0-66D6-CDD200682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ADC386-8DB8-7F3A-AB93-A66E80D59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302882-68FB-5D8C-1259-5CDC18CE8A89}"/>
              </a:ext>
            </a:extLst>
          </p:cNvPr>
          <p:cNvSpPr txBox="1"/>
          <p:nvPr/>
        </p:nvSpPr>
        <p:spPr>
          <a:xfrm>
            <a:off x="914400" y="294538"/>
            <a:ext cx="11277595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r>
              <a:rPr lang="es-ES" sz="8000" dirty="0">
                <a:solidFill>
                  <a:schemeClr val="bg1"/>
                </a:solidFill>
              </a:rPr>
              <a:t>Lo que hacen (o deberían hacer) los Institutos de Estadística: Armonización de la EPF con el concepto interior de la CN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49DBD19-3EC0-CC04-978E-5699C1E25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75" y="1854481"/>
            <a:ext cx="1173264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Incorporar conceptos exclusivos de la CN</a:t>
            </a:r>
          </a:p>
          <a:p>
            <a:endParaRPr lang="es-ES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SIFMI</a:t>
            </a:r>
            <a:r>
              <a:rPr lang="es-ES" sz="2400" dirty="0"/>
              <a:t> (servicios de intermediación financiera medidos indirectamente): no visible en EPF → se distribuye con datos de la industria financiera.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Seguros</a:t>
            </a:r>
            <a:r>
              <a:rPr lang="es-ES" sz="2400" dirty="0"/>
              <a:t>: la EPF recoge primas netas, la CN imputa el servicio completo (primas brutas + indemnizaciones).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Autoconsumo agrícola</a:t>
            </a:r>
            <a:r>
              <a:rPr lang="es-ES" sz="2400" dirty="0"/>
              <a:t> y otros bienes producidos para uso final propio → estimación por oferta.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Consumo de ISFLSH</a:t>
            </a:r>
            <a:r>
              <a:rPr lang="es-ES" sz="2400" dirty="0"/>
              <a:t>: se asigna proporcionalmente al gasto de los hogares en productos similares (UN, 2018).</a:t>
            </a:r>
          </a:p>
        </p:txBody>
      </p:sp>
    </p:spTree>
    <p:extLst>
      <p:ext uri="{BB962C8B-B14F-4D97-AF65-F5344CB8AC3E}">
        <p14:creationId xmlns:p14="http://schemas.microsoft.com/office/powerpoint/2010/main" val="4020026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4B896-BBA8-4606-09A8-9E6CB9504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C51DD61-F762-43B1-BDFF-ED46CD3AE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D7AC01-4268-C0A9-25D2-B9AFCD542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014D73-CF33-59EF-8C11-A0FA9415D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6B1792-9DEC-28B5-8088-9BABDA571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544FC2-86AE-8733-71F8-C2755645C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FA4B3F-0141-2704-D8CB-0E95BCD6AF7E}"/>
              </a:ext>
            </a:extLst>
          </p:cNvPr>
          <p:cNvSpPr txBox="1"/>
          <p:nvPr/>
        </p:nvSpPr>
        <p:spPr>
          <a:xfrm>
            <a:off x="736404" y="278535"/>
            <a:ext cx="10996246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En nuestro caso (</a:t>
            </a:r>
            <a:r>
              <a:rPr lang="es-ES" sz="2400" b="1" dirty="0">
                <a:solidFill>
                  <a:srgbClr val="40F6E9"/>
                </a:solidFill>
              </a:rPr>
              <a:t>artículo ESR, Anexo 1</a:t>
            </a:r>
            <a:r>
              <a:rPr lang="es-ES" sz="2400" b="1" dirty="0">
                <a:solidFill>
                  <a:schemeClr val="bg1"/>
                </a:solidFill>
              </a:rPr>
              <a:t>) proporcionamos la elevación e imputación de diferencias por categorías de gasto para cada país</a:t>
            </a:r>
            <a:r>
              <a:rPr lang="es-ES" sz="2400" dirty="0">
                <a:solidFill>
                  <a:schemeClr val="bg1"/>
                </a:solidFill>
              </a:rPr>
              <a:t> para que los datos, los perfiles de las encuestas para que se ajusten a los principios de NA.</a:t>
            </a:r>
          </a:p>
        </p:txBody>
      </p:sp>
      <p:pic>
        <p:nvPicPr>
          <p:cNvPr id="12" name="Imagen 11">
            <a:hlinkClick r:id="rId2"/>
            <a:extLst>
              <a:ext uri="{FF2B5EF4-FFF2-40B4-BE49-F238E27FC236}">
                <a16:creationId xmlns:a16="http://schemas.microsoft.com/office/drawing/2014/main" id="{161092C9-7DCF-C0B9-212E-543BBBB02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5476"/>
            <a:ext cx="11907605" cy="4468727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729AE8BE-143A-1247-2C5D-471520F899E6}"/>
              </a:ext>
            </a:extLst>
          </p:cNvPr>
          <p:cNvSpPr/>
          <p:nvPr/>
        </p:nvSpPr>
        <p:spPr>
          <a:xfrm>
            <a:off x="-3" y="4896091"/>
            <a:ext cx="10509816" cy="19619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Flecha: doblada 15">
            <a:extLst>
              <a:ext uri="{FF2B5EF4-FFF2-40B4-BE49-F238E27FC236}">
                <a16:creationId xmlns:a16="http://schemas.microsoft.com/office/drawing/2014/main" id="{E0EE997C-4E16-E1A1-884D-B5223FC24196}"/>
              </a:ext>
            </a:extLst>
          </p:cNvPr>
          <p:cNvSpPr/>
          <p:nvPr/>
        </p:nvSpPr>
        <p:spPr>
          <a:xfrm>
            <a:off x="5235059" y="3409659"/>
            <a:ext cx="3611301" cy="2338086"/>
          </a:xfrm>
          <a:prstGeom prst="ben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57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D1C89-31EC-E2F5-4A09-B1B17E68D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C04482-A0F3-E089-E9AA-91AAF150A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DD26D-EF9C-BE7A-65DF-00CDEFF70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C3ACFE-2D7A-293A-6991-D9B799918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AA67D3-6700-25F8-FA28-929EBBE98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7A52D8-1E52-8BBA-A6E3-60B71A6C6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31B92D-4BD4-C124-4ED9-63B8B8538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54" y="-1"/>
            <a:ext cx="11605841" cy="3890787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A872338-CE17-FD49-E762-F53B0A0991A9}"/>
              </a:ext>
            </a:extLst>
          </p:cNvPr>
          <p:cNvCxnSpPr/>
          <p:nvPr/>
        </p:nvCxnSpPr>
        <p:spPr>
          <a:xfrm>
            <a:off x="293077" y="3176954"/>
            <a:ext cx="0" cy="274320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93C43ACE-CE0B-83CD-BED2-0844725AB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26" y="1140890"/>
            <a:ext cx="11605846" cy="477926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628AB7C-0233-6818-C40A-5B7A5B75C551}"/>
              </a:ext>
            </a:extLst>
          </p:cNvPr>
          <p:cNvSpPr txBox="1"/>
          <p:nvPr/>
        </p:nvSpPr>
        <p:spPr>
          <a:xfrm>
            <a:off x="570326" y="5920154"/>
            <a:ext cx="1091828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Lecture</a:t>
            </a:r>
            <a:r>
              <a:rPr lang="es-E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 IHCMIO</a:t>
            </a:r>
            <a:r>
              <a:rPr lang="es-E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(Tomás &amp; Cazcarro, 2024</a:t>
            </a:r>
            <a:r>
              <a:rPr lang="es-E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2026),</a:t>
            </a:r>
            <a:r>
              <a:rPr lang="es-ES" sz="3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e</a:t>
            </a:r>
            <a:r>
              <a:rPr lang="es-E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 curso proporciona ejemplos de archivos de Excel y un código R automatizado y generalizable, que amplía los materiales proporcionados.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73662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9F782E8-82A5-7FA4-79C2-8ABEA632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64017"/>
            <a:ext cx="7162486" cy="447896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D7438F1-C271-582A-EDE8-6CE5826A399E}"/>
              </a:ext>
            </a:extLst>
          </p:cNvPr>
          <p:cNvSpPr txBox="1"/>
          <p:nvPr/>
        </p:nvSpPr>
        <p:spPr>
          <a:xfrm>
            <a:off x="311972" y="315020"/>
            <a:ext cx="10767508" cy="176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>
                <a:solidFill>
                  <a:srgbClr val="FF0000"/>
                </a:solidFill>
              </a:rPr>
              <a:t>Metodología</a:t>
            </a:r>
            <a:r>
              <a:rPr lang="es-ES" b="1" dirty="0">
                <a:solidFill>
                  <a:srgbClr val="FF0000"/>
                </a:solidFill>
              </a:rPr>
              <a:t>
	</a:t>
            </a:r>
            <a:r>
              <a:rPr lang="es-ES" b="1" u="sng" dirty="0"/>
              <a:t>4 pasos clave:</a:t>
            </a:r>
            <a:r>
              <a:rPr lang="es-ES" b="1" dirty="0"/>
              <a:t>
1 Alinear los microdatos con las cuentas nacionales (NA): </a:t>
            </a:r>
            <a:r>
              <a:rPr lang="es-ES" dirty="0"/>
              <a:t>Ajustar los datos de las encuestas para que se ajusten a los principios de NA.</a:t>
            </a:r>
            <a:endParaRPr lang="en-GB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BAFDC6-5F3A-0FAE-2A5A-62C121FBC527}"/>
              </a:ext>
            </a:extLst>
          </p:cNvPr>
          <p:cNvSpPr txBox="1"/>
          <p:nvPr/>
        </p:nvSpPr>
        <p:spPr>
          <a:xfrm>
            <a:off x="-127000" y="2224206"/>
            <a:ext cx="5506720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s-ES" b="1" dirty="0">
                <a:solidFill>
                  <a:srgbClr val="0070C0"/>
                </a:solidFill>
              </a:rPr>
              <a:t>2 Clasificaciones puente (bridge): </a:t>
            </a:r>
            <a:r>
              <a:rPr lang="es-ES" dirty="0">
                <a:solidFill>
                  <a:srgbClr val="0070C0"/>
                </a:solidFill>
              </a:rPr>
              <a:t>Conversión de datos de consumo de COICOP a CPA.</a:t>
            </a:r>
            <a:r>
              <a:rPr lang="es-ES" b="1" dirty="0"/>
              <a:t>
3 Conversión de valoración: </a:t>
            </a:r>
            <a:r>
              <a:rPr lang="es-ES" dirty="0"/>
              <a:t>Modificación de los datos de consumo de precios de adquisición a precios básicos.</a:t>
            </a:r>
            <a:r>
              <a:rPr lang="es-ES" b="1" dirty="0"/>
              <a:t>
4 Ajuste a las clasificaciones de la industria (si es necesario): </a:t>
            </a:r>
            <a:r>
              <a:rPr lang="es-ES" dirty="0"/>
              <a:t>Transformar los datos basados en productos en clasificaciones de la industria si es necesario.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FBDB6BD-7754-0ED6-FDFA-9A83C708525E}"/>
              </a:ext>
            </a:extLst>
          </p:cNvPr>
          <p:cNvSpPr/>
          <p:nvPr/>
        </p:nvSpPr>
        <p:spPr>
          <a:xfrm>
            <a:off x="6959600" y="2926081"/>
            <a:ext cx="1538941" cy="2420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473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1846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400"/>
            </a:pPr>
            <a:r>
              <a:rPr lang="es-ES" dirty="0"/>
              <a:t>Encuestas de Consumo de Hogares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971" y="1426024"/>
            <a:ext cx="11880029" cy="20029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  <a:defRPr sz="2800"/>
            </a:pPr>
            <a:r>
              <a:rPr lang="es-ES" sz="2800" dirty="0"/>
              <a:t>• Recopilan detalles sobre niveles y patrones de consumo familiar.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  <a:defRPr sz="2800"/>
            </a:pPr>
            <a:br>
              <a:rPr lang="es-ES" sz="2800" dirty="0"/>
            </a:br>
            <a:r>
              <a:rPr lang="es-ES" sz="2800" dirty="0"/>
              <a:t>• Fuente fundamental para el cálculo del IPC y la cuantificación de indicadores de bienestar social.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  <a:defRPr sz="2800"/>
            </a:pPr>
            <a:br>
              <a:rPr lang="es-ES" sz="2800" dirty="0"/>
            </a:br>
            <a:r>
              <a:rPr lang="es-ES" sz="2800" dirty="0"/>
              <a:t>• Basadas en clasificaciones COICOP.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58563" y="3999081"/>
            <a:ext cx="4716114" cy="854915"/>
          </a:xfrm>
        </p:spPr>
        <p:txBody>
          <a:bodyPr/>
          <a:lstStyle/>
          <a:p>
            <a:pPr>
              <a:defRPr sz="4400"/>
            </a:pPr>
            <a:r>
              <a:rPr dirty="0" err="1"/>
              <a:t>Tablas</a:t>
            </a:r>
            <a:r>
              <a:rPr dirty="0"/>
              <a:t> Input-Output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11971" y="4939531"/>
            <a:ext cx="11880029" cy="1496741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spcBef>
                <a:spcPts val="0"/>
              </a:spcBef>
              <a:buNone/>
              <a:defRPr sz="2800"/>
            </a:pPr>
            <a:r>
              <a:rPr dirty="0"/>
              <a:t>• </a:t>
            </a:r>
            <a:r>
              <a:rPr b="1" dirty="0" err="1">
                <a:solidFill>
                  <a:srgbClr val="0070C0"/>
                </a:solidFill>
              </a:rPr>
              <a:t>Tablas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basadas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en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productos</a:t>
            </a:r>
            <a:r>
              <a:rPr b="1" dirty="0">
                <a:solidFill>
                  <a:srgbClr val="0070C0"/>
                </a:solidFill>
              </a:rPr>
              <a:t> o </a:t>
            </a:r>
            <a:r>
              <a:rPr b="1" dirty="0" err="1">
                <a:solidFill>
                  <a:srgbClr val="0070C0"/>
                </a:solidFill>
              </a:rPr>
              <a:t>industrias</a:t>
            </a:r>
            <a:r>
              <a:rPr b="1" dirty="0">
                <a:solidFill>
                  <a:srgbClr val="0070C0"/>
                </a:solidFill>
              </a:rPr>
              <a:t>.</a:t>
            </a:r>
            <a:endParaRPr lang="es-ES" b="1" dirty="0">
              <a:solidFill>
                <a:srgbClr val="0070C0"/>
              </a:solidFill>
            </a:endParaRPr>
          </a:p>
          <a:p>
            <a:pPr marL="457200" lvl="1" indent="0">
              <a:spcBef>
                <a:spcPts val="0"/>
              </a:spcBef>
              <a:buNone/>
              <a:defRPr sz="2800"/>
            </a:pPr>
            <a:br>
              <a:rPr dirty="0"/>
            </a:br>
            <a:r>
              <a:rPr dirty="0"/>
              <a:t>• </a:t>
            </a:r>
            <a:r>
              <a:rPr dirty="0" err="1"/>
              <a:t>Valoración</a:t>
            </a:r>
            <a:r>
              <a:rPr dirty="0"/>
              <a:t> a </a:t>
            </a:r>
            <a:r>
              <a:rPr dirty="0" err="1"/>
              <a:t>precios</a:t>
            </a:r>
            <a:r>
              <a:rPr dirty="0"/>
              <a:t> </a:t>
            </a:r>
            <a:r>
              <a:rPr dirty="0" err="1"/>
              <a:t>básicos</a:t>
            </a:r>
            <a:endParaRPr lang="es-ES" dirty="0"/>
          </a:p>
          <a:p>
            <a:pPr marL="457200" lvl="1" indent="0">
              <a:spcBef>
                <a:spcPts val="0"/>
              </a:spcBef>
              <a:buNone/>
              <a:defRPr sz="2800"/>
            </a:pPr>
            <a:br>
              <a:rPr dirty="0"/>
            </a:br>
            <a:r>
              <a:rPr dirty="0"/>
              <a:t>• </a:t>
            </a:r>
            <a:r>
              <a:rPr dirty="0" err="1"/>
              <a:t>Nacionales</a:t>
            </a:r>
            <a:r>
              <a:rPr dirty="0"/>
              <a:t> vs. </a:t>
            </a:r>
            <a:r>
              <a:rPr dirty="0" err="1"/>
              <a:t>multirregionales</a:t>
            </a:r>
            <a:r>
              <a:rPr dirty="0"/>
              <a:t>: </a:t>
            </a:r>
            <a:r>
              <a:rPr dirty="0" err="1"/>
              <a:t>Diferencias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detalle</a:t>
            </a:r>
            <a:r>
              <a:rPr dirty="0"/>
              <a:t> </a:t>
            </a:r>
            <a:r>
              <a:rPr dirty="0" err="1"/>
              <a:t>geográfico</a:t>
            </a:r>
            <a:r>
              <a:rPr dirty="0"/>
              <a:t>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8BB115E-5290-8B92-8385-292AC73DC284}"/>
              </a:ext>
            </a:extLst>
          </p:cNvPr>
          <p:cNvSpPr/>
          <p:nvPr/>
        </p:nvSpPr>
        <p:spPr>
          <a:xfrm>
            <a:off x="4735756" y="2751587"/>
            <a:ext cx="1360479" cy="5133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B94AE6-3AC1-1274-245C-3F95DE3310D8}"/>
              </a:ext>
            </a:extLst>
          </p:cNvPr>
          <p:cNvSpPr txBox="1"/>
          <p:nvPr/>
        </p:nvSpPr>
        <p:spPr>
          <a:xfrm>
            <a:off x="6096000" y="2391783"/>
            <a:ext cx="62249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b="1" dirty="0">
                <a:solidFill>
                  <a:srgbClr val="FF0000"/>
                </a:solidFill>
              </a:rPr>
              <a:t>¡¡Ojo!! </a:t>
            </a:r>
            <a:r>
              <a:rPr lang="es-ES" sz="2200" b="1" dirty="0"/>
              <a:t>Ha habido cambios en clasificación COICOP (2018), la que usábamos y se puede utilizar hasta datos de 2023, a COICOP (2024).</a:t>
            </a:r>
          </a:p>
          <a:p>
            <a:r>
              <a:rPr lang="es-ES" sz="2200" dirty="0"/>
              <a:t>No grandes cambios, pero no hay correspondencia  oficial (A. Amores lo ha trabajado con enlace 1 a 1 a nivel desagregado...)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45FBB05-C861-B25F-8B40-9EA6F105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10" y="1424373"/>
            <a:ext cx="11438490" cy="49561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AE5D31F-248D-80B6-1F59-337D75CE7747}"/>
              </a:ext>
            </a:extLst>
          </p:cNvPr>
          <p:cNvSpPr txBox="1"/>
          <p:nvPr/>
        </p:nvSpPr>
        <p:spPr>
          <a:xfrm>
            <a:off x="3751580" y="564347"/>
            <a:ext cx="42443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rgbClr val="FF0000"/>
                </a:solidFill>
                <a:latin typeface="TimesNewRomanPSMT"/>
              </a:rPr>
              <a:t>Clasificaciones</a:t>
            </a:r>
            <a:r>
              <a:rPr lang="en-GB" sz="3200" b="1" dirty="0">
                <a:solidFill>
                  <a:srgbClr val="FF0000"/>
                </a:solidFill>
                <a:latin typeface="TimesNewRomanPSMT"/>
              </a:rPr>
              <a:t> ISIC</a:t>
            </a:r>
            <a:endParaRPr lang="es-ES" sz="32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5B4A76-212E-284D-DBA3-C14C765AD3BE}"/>
              </a:ext>
            </a:extLst>
          </p:cNvPr>
          <p:cNvSpPr/>
          <p:nvPr/>
        </p:nvSpPr>
        <p:spPr>
          <a:xfrm>
            <a:off x="2520875" y="4622800"/>
            <a:ext cx="1370406" cy="690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523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7B780F5-1CAF-10F4-52C9-15BF19446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09" y="527926"/>
            <a:ext cx="3910737" cy="283720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EE175A5-DC91-A993-2BB7-5A34FF7F4012}"/>
              </a:ext>
            </a:extLst>
          </p:cNvPr>
          <p:cNvSpPr/>
          <p:nvPr/>
        </p:nvSpPr>
        <p:spPr>
          <a:xfrm>
            <a:off x="5174428" y="351690"/>
            <a:ext cx="6863378" cy="4629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0B08EF-2769-EEEE-1FB2-08DAA3CB20BF}"/>
              </a:ext>
            </a:extLst>
          </p:cNvPr>
          <p:cNvSpPr txBox="1"/>
          <p:nvPr/>
        </p:nvSpPr>
        <p:spPr>
          <a:xfrm>
            <a:off x="5567679" y="741858"/>
            <a:ext cx="647012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NewRomanPSMT"/>
              </a:rPr>
              <a:t>Recent literature has analysed the driving forces that determines </a:t>
            </a:r>
            <a:r>
              <a:rPr lang="en-GB" sz="2800" b="1" dirty="0">
                <a:solidFill>
                  <a:srgbClr val="FF0000"/>
                </a:solidFill>
                <a:latin typeface="TimesNewRomanPSMT"/>
              </a:rPr>
              <a:t>structural change (</a:t>
            </a:r>
            <a:r>
              <a:rPr lang="en-GB" sz="2800" b="1" dirty="0" err="1">
                <a:solidFill>
                  <a:srgbClr val="FF0000"/>
                </a:solidFill>
                <a:latin typeface="TimesNewRomanPSMT"/>
              </a:rPr>
              <a:t>SCh</a:t>
            </a:r>
            <a:r>
              <a:rPr lang="en-GB" sz="2800" b="1" dirty="0">
                <a:solidFill>
                  <a:srgbClr val="FF0000"/>
                </a:solidFill>
                <a:latin typeface="TimesNewRomanPSMT"/>
              </a:rPr>
              <a:t>)</a:t>
            </a:r>
            <a:r>
              <a:rPr lang="en-GB" dirty="0">
                <a:solidFill>
                  <a:srgbClr val="000000"/>
                </a:solidFill>
                <a:latin typeface="TimesNewRomanPSMT"/>
              </a:rPr>
              <a:t>.</a:t>
            </a:r>
          </a:p>
          <a:p>
            <a:endParaRPr lang="en-GB" dirty="0">
              <a:solidFill>
                <a:srgbClr val="000000"/>
              </a:solidFill>
              <a:latin typeface="TimesNewRomanPSMT"/>
            </a:endParaRPr>
          </a:p>
          <a:p>
            <a:r>
              <a:rPr lang="en-GB" dirty="0">
                <a:solidFill>
                  <a:srgbClr val="000000"/>
                </a:solidFill>
                <a:latin typeface="TimesNewRomanPSMT"/>
              </a:rPr>
              <a:t>2 theoretical mechanisms that links the </a:t>
            </a:r>
            <a:r>
              <a:rPr lang="en-GB" u="sng" dirty="0">
                <a:solidFill>
                  <a:srgbClr val="000000"/>
                </a:solidFill>
                <a:latin typeface="TimesNewRomanPSMT"/>
              </a:rPr>
              <a:t>sector specific household expenditure</a:t>
            </a:r>
            <a:br>
              <a:rPr lang="en-GB" u="sng" dirty="0">
                <a:solidFill>
                  <a:srgbClr val="000000"/>
                </a:solidFill>
                <a:latin typeface="TimesNewRomanPSMT"/>
              </a:rPr>
            </a:br>
            <a:r>
              <a:rPr lang="en-GB" u="sng" dirty="0">
                <a:solidFill>
                  <a:srgbClr val="000000"/>
                </a:solidFill>
                <a:latin typeface="TimesNewRomanPSMT"/>
              </a:rPr>
              <a:t>structure across sectors to structural change</a:t>
            </a:r>
            <a:r>
              <a:rPr lang="en-GB" dirty="0">
                <a:solidFill>
                  <a:srgbClr val="000000"/>
                </a:solidFill>
                <a:latin typeface="TimesNewRomanPSM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000000"/>
                </a:solidFill>
                <a:latin typeface="TimesNewRomanPSMT"/>
              </a:rPr>
              <a:t>SCh</a:t>
            </a:r>
            <a:r>
              <a:rPr lang="en-GB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GB" u="sng" dirty="0">
                <a:solidFill>
                  <a:srgbClr val="000000"/>
                </a:solidFill>
                <a:latin typeface="TimesNewRomanPSMT"/>
              </a:rPr>
              <a:t>driven by income effects </a:t>
            </a:r>
            <a:r>
              <a:rPr lang="en-GB" dirty="0">
                <a:solidFill>
                  <a:srgbClr val="000000"/>
                </a:solidFill>
                <a:latin typeface="TimesNewRomanPSMT"/>
              </a:rPr>
              <a:t>that are generated by </a:t>
            </a:r>
            <a:r>
              <a:rPr lang="en-GB" u="sng" dirty="0">
                <a:solidFill>
                  <a:srgbClr val="000000"/>
                </a:solidFill>
                <a:latin typeface="TimesNewRomanPSMT"/>
              </a:rPr>
              <a:t>non-homothetic preferences when income changes</a:t>
            </a:r>
            <a:br>
              <a:rPr lang="en-GB" dirty="0">
                <a:solidFill>
                  <a:srgbClr val="000000"/>
                </a:solidFill>
                <a:latin typeface="TimesNewRomanPSMT"/>
              </a:rPr>
            </a:br>
            <a:endParaRPr lang="en-GB" dirty="0">
              <a:solidFill>
                <a:srgbClr val="000000"/>
              </a:solidFill>
              <a:latin typeface="TimesNewRomanPS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000000"/>
                </a:solidFill>
                <a:latin typeface="TimesNewRomanPSMT"/>
              </a:rPr>
              <a:t>SCh</a:t>
            </a:r>
            <a:r>
              <a:rPr lang="en-GB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GB" u="sng" dirty="0">
                <a:solidFill>
                  <a:srgbClr val="000000"/>
                </a:solidFill>
                <a:latin typeface="TimesNewRomanPSMT"/>
              </a:rPr>
              <a:t>driven </a:t>
            </a:r>
            <a:r>
              <a:rPr lang="en-GB" dirty="0">
                <a:solidFill>
                  <a:srgbClr val="000000"/>
                </a:solidFill>
                <a:latin typeface="TimesNewRomanPSMT"/>
              </a:rPr>
              <a:t>only by </a:t>
            </a:r>
            <a:r>
              <a:rPr lang="en-GB" u="sng" dirty="0">
                <a:solidFill>
                  <a:srgbClr val="000000"/>
                </a:solidFill>
                <a:latin typeface="TimesNewRomanPSMT"/>
              </a:rPr>
              <a:t>changes in relative prices</a:t>
            </a:r>
            <a:r>
              <a:rPr lang="en-GB" dirty="0">
                <a:solidFill>
                  <a:srgbClr val="000000"/>
                </a:solidFill>
                <a:latin typeface="TimesNewRomanPSMT"/>
              </a:rPr>
              <a:t> and necessarily technological progress among  sectors is different (Baumol, 1967; Nagai and </a:t>
            </a:r>
            <a:r>
              <a:rPr lang="en-GB" dirty="0" err="1">
                <a:solidFill>
                  <a:srgbClr val="000000"/>
                </a:solidFill>
                <a:latin typeface="TimesNewRomanPSMT"/>
              </a:rPr>
              <a:t>Pissarides</a:t>
            </a:r>
            <a:r>
              <a:rPr lang="en-GB" dirty="0">
                <a:solidFill>
                  <a:srgbClr val="000000"/>
                </a:solidFill>
                <a:latin typeface="TimesNewRomanPSMT"/>
              </a:rPr>
              <a:t>, 2007). </a:t>
            </a:r>
          </a:p>
          <a:p>
            <a:br>
              <a:rPr lang="en-GB" dirty="0">
                <a:solidFill>
                  <a:srgbClr val="000000"/>
                </a:solidFill>
                <a:latin typeface="TimesNewRomanPSMT"/>
              </a:rPr>
            </a:br>
            <a:r>
              <a:rPr lang="en-GB" dirty="0">
                <a:solidFill>
                  <a:srgbClr val="000000"/>
                </a:solidFill>
                <a:latin typeface="TimesNewRomanPSMT"/>
              </a:rPr>
              <a:t>No consensus about the relative importance of the 2</a:t>
            </a:r>
            <a:br>
              <a:rPr lang="en-GB" dirty="0"/>
            </a:b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765908-33A2-1024-8228-533B77F37B3C}"/>
              </a:ext>
            </a:extLst>
          </p:cNvPr>
          <p:cNvSpPr txBox="1"/>
          <p:nvPr/>
        </p:nvSpPr>
        <p:spPr>
          <a:xfrm>
            <a:off x="802309" y="3780690"/>
            <a:ext cx="39395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TimesNewRomanPSMT"/>
              </a:rPr>
              <a:t>Bridge/</a:t>
            </a:r>
            <a:r>
              <a:rPr lang="es-ES" sz="2400" b="1" dirty="0" err="1">
                <a:solidFill>
                  <a:srgbClr val="FF0000"/>
                </a:solidFill>
                <a:latin typeface="TimesNewRomanPSMT"/>
              </a:rPr>
              <a:t>contingency</a:t>
            </a:r>
            <a:r>
              <a:rPr lang="es-ES" sz="2400" b="1" dirty="0">
                <a:solidFill>
                  <a:srgbClr val="FF0000"/>
                </a:solidFill>
                <a:latin typeface="TimesNewRomanPSMT"/>
              </a:rPr>
              <a:t> matrices: “</a:t>
            </a:r>
            <a:r>
              <a:rPr lang="es-ES" sz="2400" b="1" dirty="0" err="1">
                <a:solidFill>
                  <a:srgbClr val="FF0000"/>
                </a:solidFill>
                <a:latin typeface="TimesNewRomanPSMT"/>
              </a:rPr>
              <a:t>technology</a:t>
            </a:r>
            <a:r>
              <a:rPr lang="es-ES" sz="2400" b="1" dirty="0">
                <a:solidFill>
                  <a:srgbClr val="FF0000"/>
                </a:solidFill>
                <a:latin typeface="TimesNewRomanPSMT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TimesNewRomanPSMT"/>
              </a:rPr>
              <a:t>of</a:t>
            </a:r>
            <a:r>
              <a:rPr lang="es-ES" sz="2400" b="1" dirty="0">
                <a:solidFill>
                  <a:srgbClr val="FF0000"/>
                </a:solidFill>
                <a:latin typeface="TimesNewRomanPSMT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TimesNewRomanPSMT"/>
              </a:rPr>
              <a:t>the</a:t>
            </a:r>
            <a:br>
              <a:rPr lang="es-ES" sz="2400" b="1" dirty="0">
                <a:solidFill>
                  <a:srgbClr val="FF0000"/>
                </a:solidFill>
                <a:latin typeface="TimesNewRomanPSMT"/>
              </a:rPr>
            </a:br>
            <a:r>
              <a:rPr lang="es-ES" sz="2400" b="1" dirty="0" err="1">
                <a:solidFill>
                  <a:srgbClr val="FF0000"/>
                </a:solidFill>
                <a:latin typeface="TimesNewRomanPSMT"/>
              </a:rPr>
              <a:t>preferences</a:t>
            </a:r>
            <a:r>
              <a:rPr lang="es-ES" sz="2400" b="1" dirty="0">
                <a:solidFill>
                  <a:srgbClr val="FF0000"/>
                </a:solidFill>
                <a:latin typeface="TimesNewRomanPSMT"/>
              </a:rPr>
              <a:t>”</a:t>
            </a:r>
            <a:r>
              <a:rPr lang="es-ES" sz="24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A4658A5-8C0C-4E23-E838-78C56A65C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881" y="5210773"/>
            <a:ext cx="7490961" cy="69570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024CEB7-F231-9DE9-433C-364565AACA5D}"/>
              </a:ext>
            </a:extLst>
          </p:cNvPr>
          <p:cNvSpPr/>
          <p:nvPr/>
        </p:nvSpPr>
        <p:spPr>
          <a:xfrm>
            <a:off x="496645" y="3686561"/>
            <a:ext cx="4216401" cy="1507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33668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61CF0180-5D28-141D-0759-5F9D4C120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38" y="326037"/>
            <a:ext cx="8764223" cy="506800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92F87D4-9630-4C99-A5AD-90D24855FA51}"/>
              </a:ext>
            </a:extLst>
          </p:cNvPr>
          <p:cNvSpPr/>
          <p:nvPr/>
        </p:nvSpPr>
        <p:spPr>
          <a:xfrm>
            <a:off x="6898542" y="305716"/>
            <a:ext cx="2885538" cy="386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07BE0D-C6DA-1E86-5352-9AB37496429D}"/>
              </a:ext>
            </a:extLst>
          </p:cNvPr>
          <p:cNvSpPr/>
          <p:nvPr/>
        </p:nvSpPr>
        <p:spPr>
          <a:xfrm>
            <a:off x="3296210" y="1392836"/>
            <a:ext cx="3246830" cy="386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9DFCE2-1DE3-02EF-F3D1-6AA82C8D37FC}"/>
              </a:ext>
            </a:extLst>
          </p:cNvPr>
          <p:cNvSpPr/>
          <p:nvPr/>
        </p:nvSpPr>
        <p:spPr>
          <a:xfrm>
            <a:off x="1825195" y="4196996"/>
            <a:ext cx="8738665" cy="119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37ACB0D-443D-B6FB-2903-D39E36BD6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637" y="5465165"/>
            <a:ext cx="8621328" cy="71447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A555D61-E675-5023-1401-BA09326C527B}"/>
              </a:ext>
            </a:extLst>
          </p:cNvPr>
          <p:cNvSpPr/>
          <p:nvPr/>
        </p:nvSpPr>
        <p:spPr>
          <a:xfrm>
            <a:off x="5008880" y="5629361"/>
            <a:ext cx="1259840" cy="386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A4A25EB-357A-9E5F-A223-50B99A3167D5}"/>
              </a:ext>
            </a:extLst>
          </p:cNvPr>
          <p:cNvSpPr txBox="1"/>
          <p:nvPr/>
        </p:nvSpPr>
        <p:spPr>
          <a:xfrm>
            <a:off x="3180080" y="3817503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COICOP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419E776-7435-3BA0-ACE2-4E2542BBF5C7}"/>
              </a:ext>
            </a:extLst>
          </p:cNvPr>
          <p:cNvSpPr txBox="1"/>
          <p:nvPr/>
        </p:nvSpPr>
        <p:spPr>
          <a:xfrm>
            <a:off x="7396480" y="5024710"/>
            <a:ext cx="238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 CPA (CPC, ISIC)</a:t>
            </a:r>
          </a:p>
        </p:txBody>
      </p:sp>
    </p:spTree>
    <p:extLst>
      <p:ext uri="{BB962C8B-B14F-4D97-AF65-F5344CB8AC3E}">
        <p14:creationId xmlns:p14="http://schemas.microsoft.com/office/powerpoint/2010/main" val="4119739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D3CF53-B70C-2598-9F42-8C4DFAA98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70" y="619822"/>
            <a:ext cx="8217261" cy="3423859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1088ED6A-9B25-1379-2FC1-8BC0D9D476D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2890520" y="5574030"/>
              <a:ext cx="2286000" cy="1714500"/>
            </p:xfrm>
            <a:graphic>
              <a:graphicData uri="http://schemas.microsoft.com/office/powerpoint/2016/slidezoom">
                <pslz:sldZm>
                  <pslz:sldZmObj sldId="307" cId="1974592905">
                    <pslz:zmPr id="{D9B9CEE6-B0B1-477D-81A6-F234DC09BF8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088ED6A-9B25-1379-2FC1-8BC0D9D476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890520" y="5574030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9CAA8027-1276-5C66-CAF7-36A4DFA01A62}"/>
              </a:ext>
            </a:extLst>
          </p:cNvPr>
          <p:cNvSpPr txBox="1"/>
          <p:nvPr/>
        </p:nvSpPr>
        <p:spPr>
          <a:xfrm>
            <a:off x="1987370" y="4523104"/>
            <a:ext cx="87940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rgbClr val="FF0000"/>
                </a:solidFill>
              </a:rPr>
              <a:t>Conectaría directamente al vector de consumo (una vez realizado el paso 3, de precios de adquisición a precios básicos), si es tabla producto por producto (sino, paso 4)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194686-5BBA-94BC-4DF7-3FF5DE977F49}"/>
              </a:ext>
            </a:extLst>
          </p:cNvPr>
          <p:cNvSpPr/>
          <p:nvPr/>
        </p:nvSpPr>
        <p:spPr>
          <a:xfrm>
            <a:off x="-3296093" y="-212652"/>
            <a:ext cx="13971181" cy="4540103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20000"/>
                </a:schemeClr>
              </a:gs>
              <a:gs pos="74000">
                <a:schemeClr val="bg1">
                  <a:lumMod val="95000"/>
                </a:schemeClr>
              </a:gs>
              <a:gs pos="8300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2000000" scaled="0"/>
          </a:gradFill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45929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hlinkClick r:id="rId3"/>
            <a:extLst>
              <a:ext uri="{FF2B5EF4-FFF2-40B4-BE49-F238E27FC236}">
                <a16:creationId xmlns:a16="http://schemas.microsoft.com/office/drawing/2014/main" id="{2A254BE4-F279-3F3E-3331-F2018E6DB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944" y="56679"/>
            <a:ext cx="9078592" cy="674464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2FB390A-3FBB-22D7-9BD6-EE22116A82A1}"/>
              </a:ext>
            </a:extLst>
          </p:cNvPr>
          <p:cNvSpPr/>
          <p:nvPr/>
        </p:nvSpPr>
        <p:spPr>
          <a:xfrm>
            <a:off x="0" y="2824480"/>
            <a:ext cx="11490959" cy="16246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C0F6DF-BF2D-A145-097D-DECEF83D12A2}"/>
              </a:ext>
            </a:extLst>
          </p:cNvPr>
          <p:cNvSpPr/>
          <p:nvPr/>
        </p:nvSpPr>
        <p:spPr>
          <a:xfrm>
            <a:off x="0" y="4592320"/>
            <a:ext cx="11389360" cy="1106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4887B7-874F-D7E0-16B7-DAFF0CDD8AA1}"/>
              </a:ext>
            </a:extLst>
          </p:cNvPr>
          <p:cNvSpPr txBox="1"/>
          <p:nvPr/>
        </p:nvSpPr>
        <p:spPr>
          <a:xfrm>
            <a:off x="284164" y="3093071"/>
            <a:ext cx="2202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1 Alineación de  microdatos con NA 2 Clasificaciones puente (bridge): 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32BAF4-3410-4F0E-F8BB-9B79BE21E05C}"/>
              </a:ext>
            </a:extLst>
          </p:cNvPr>
          <p:cNvSpPr txBox="1"/>
          <p:nvPr/>
        </p:nvSpPr>
        <p:spPr>
          <a:xfrm>
            <a:off x="284164" y="4791814"/>
            <a:ext cx="2316480" cy="643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3 Conversión de valoración: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5906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9F782E8-82A5-7FA4-79C2-8ABEA632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64017"/>
            <a:ext cx="7162486" cy="447896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D7438F1-C271-582A-EDE8-6CE5826A399E}"/>
              </a:ext>
            </a:extLst>
          </p:cNvPr>
          <p:cNvSpPr txBox="1"/>
          <p:nvPr/>
        </p:nvSpPr>
        <p:spPr>
          <a:xfrm>
            <a:off x="311972" y="315020"/>
            <a:ext cx="10767508" cy="176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>
                <a:solidFill>
                  <a:srgbClr val="FF0000"/>
                </a:solidFill>
              </a:rPr>
              <a:t>Metodología</a:t>
            </a:r>
            <a:r>
              <a:rPr lang="es-ES" b="1" dirty="0">
                <a:solidFill>
                  <a:srgbClr val="FF0000"/>
                </a:solidFill>
              </a:rPr>
              <a:t>
	</a:t>
            </a:r>
            <a:r>
              <a:rPr lang="es-ES" b="1" u="sng" dirty="0"/>
              <a:t>4 pasos clave:</a:t>
            </a:r>
            <a:r>
              <a:rPr lang="es-ES" b="1" dirty="0"/>
              <a:t>
1 Alinear los microdatos con las cuentas nacionales (NA): </a:t>
            </a:r>
            <a:r>
              <a:rPr lang="es-ES" dirty="0"/>
              <a:t>Ajustar los datos de las encuestas para que se ajusten a los principios de NA.</a:t>
            </a:r>
            <a:endParaRPr lang="en-GB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BAFDC6-5F3A-0FAE-2A5A-62C121FBC527}"/>
              </a:ext>
            </a:extLst>
          </p:cNvPr>
          <p:cNvSpPr txBox="1"/>
          <p:nvPr/>
        </p:nvSpPr>
        <p:spPr>
          <a:xfrm>
            <a:off x="-127000" y="2224206"/>
            <a:ext cx="5506720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s-ES" b="1" dirty="0"/>
              <a:t>2 Clasificaciones puente (bridge): </a:t>
            </a:r>
            <a:r>
              <a:rPr lang="es-ES" dirty="0"/>
              <a:t>Conversión de datos de consumo de COICOP a CPA.</a:t>
            </a:r>
            <a:r>
              <a:rPr lang="es-ES" b="1" dirty="0"/>
              <a:t>
</a:t>
            </a:r>
            <a:r>
              <a:rPr lang="es-ES" b="1" dirty="0">
                <a:solidFill>
                  <a:srgbClr val="0070C0"/>
                </a:solidFill>
              </a:rPr>
              <a:t>3 Conversión de valoración: </a:t>
            </a:r>
            <a:r>
              <a:rPr lang="es-ES" dirty="0">
                <a:solidFill>
                  <a:srgbClr val="0070C0"/>
                </a:solidFill>
              </a:rPr>
              <a:t>Modificación de los datos de consumo de precios de adquisición a precios básicos.</a:t>
            </a:r>
            <a:r>
              <a:rPr lang="es-ES" b="1" dirty="0"/>
              <a:t>
4 Ajuste a las clasificaciones de la industria (si es necesario): </a:t>
            </a:r>
            <a:r>
              <a:rPr lang="es-ES" dirty="0"/>
              <a:t>Transformar los datos basados en productos en clasificaciones de la industria si es necesario.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FBDB6BD-7754-0ED6-FDFA-9A83C708525E}"/>
              </a:ext>
            </a:extLst>
          </p:cNvPr>
          <p:cNvSpPr/>
          <p:nvPr/>
        </p:nvSpPr>
        <p:spPr>
          <a:xfrm>
            <a:off x="8326418" y="3689873"/>
            <a:ext cx="1473798" cy="2326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189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E82009-871F-7FA2-4BE7-2904B1327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2" y="1026899"/>
            <a:ext cx="5029234" cy="337010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07401CB-77FE-0B0C-9774-230E79BF653C}"/>
              </a:ext>
            </a:extLst>
          </p:cNvPr>
          <p:cNvSpPr txBox="1">
            <a:spLocks/>
          </p:cNvSpPr>
          <p:nvPr/>
        </p:nvSpPr>
        <p:spPr>
          <a:xfrm>
            <a:off x="701040" y="139903"/>
            <a:ext cx="10789920" cy="8575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Precios básicos y Precios de adquisición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594896-0DA3-22BB-67C4-20EA98AAF2EE}"/>
              </a:ext>
            </a:extLst>
          </p:cNvPr>
          <p:cNvSpPr txBox="1"/>
          <p:nvPr/>
        </p:nvSpPr>
        <p:spPr>
          <a:xfrm>
            <a:off x="5664174" y="2402948"/>
            <a:ext cx="1737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Consumo de Hogares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0C1F2A-1878-8787-5195-F957828888B1}"/>
              </a:ext>
            </a:extLst>
          </p:cNvPr>
          <p:cNvSpPr txBox="1"/>
          <p:nvPr/>
        </p:nvSpPr>
        <p:spPr>
          <a:xfrm>
            <a:off x="4221454" y="4658301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Marcos Input-output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7C346F-D1D2-E1A3-65D7-DA94108711BF}"/>
              </a:ext>
            </a:extLst>
          </p:cNvPr>
          <p:cNvSpPr txBox="1"/>
          <p:nvPr/>
        </p:nvSpPr>
        <p:spPr>
          <a:xfrm>
            <a:off x="223251" y="434838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i="0" dirty="0">
                <a:solidFill>
                  <a:srgbClr val="000000"/>
                </a:solidFill>
                <a:effectLst/>
                <a:latin typeface="Arial-BoldMT"/>
              </a:rPr>
              <a:t>Fuente: MARCO INPUT-OUTPUT DE ANDALUCÍA 2016</a:t>
            </a:r>
            <a:r>
              <a:rPr lang="es-ES" sz="1400" dirty="0"/>
              <a:t> </a:t>
            </a:r>
            <a:br>
              <a:rPr lang="es-ES" sz="1400" dirty="0"/>
            </a:br>
            <a:endParaRPr lang="es-ES" sz="14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49E84F8-B451-AD82-9553-3AC6CF7E232C}"/>
              </a:ext>
            </a:extLst>
          </p:cNvPr>
          <p:cNvCxnSpPr>
            <a:cxnSpLocks/>
          </p:cNvCxnSpPr>
          <p:nvPr/>
        </p:nvCxnSpPr>
        <p:spPr>
          <a:xfrm flipH="1">
            <a:off x="2044717" y="2402948"/>
            <a:ext cx="2750777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64F35E86-9DCB-DD37-1DA9-21FCE9867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400" y="1480508"/>
            <a:ext cx="4551495" cy="3639458"/>
          </a:xfrm>
          <a:prstGeom prst="rect">
            <a:avLst/>
          </a:prstGeom>
        </p:spPr>
      </p:pic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37EB82F-1D5C-3968-D347-307B8B3CDBD3}"/>
              </a:ext>
            </a:extLst>
          </p:cNvPr>
          <p:cNvCxnSpPr>
            <a:cxnSpLocks/>
          </p:cNvCxnSpPr>
          <p:nvPr/>
        </p:nvCxnSpPr>
        <p:spPr>
          <a:xfrm>
            <a:off x="7401534" y="3029948"/>
            <a:ext cx="0" cy="184165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D3A2B1-3634-938D-F56B-C34492687C20}"/>
              </a:ext>
            </a:extLst>
          </p:cNvPr>
          <p:cNvSpPr txBox="1">
            <a:spLocks/>
          </p:cNvSpPr>
          <p:nvPr/>
        </p:nvSpPr>
        <p:spPr>
          <a:xfrm>
            <a:off x="155985" y="5498604"/>
            <a:ext cx="11880029" cy="1243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defRPr sz="2800"/>
            </a:pPr>
            <a:r>
              <a:rPr lang="es-ES" sz="2800" dirty="0"/>
              <a:t>• Tablas basadas en productos o industrias.</a:t>
            </a:r>
          </a:p>
          <a:p>
            <a:pPr lvl="1">
              <a:spcBef>
                <a:spcPts val="0"/>
              </a:spcBef>
              <a:defRPr sz="2800"/>
            </a:pPr>
            <a:br>
              <a:rPr lang="es-ES" sz="2800" dirty="0"/>
            </a:br>
            <a:r>
              <a:rPr lang="es-ES" sz="2800" dirty="0"/>
              <a:t>• </a:t>
            </a:r>
            <a:r>
              <a:rPr lang="es-ES" sz="2800" b="1" dirty="0">
                <a:solidFill>
                  <a:srgbClr val="0070C0"/>
                </a:solidFill>
              </a:rPr>
              <a:t>Valoración a precios básicos</a:t>
            </a:r>
            <a:endParaRPr lang="es-ES" sz="2800" dirty="0"/>
          </a:p>
          <a:p>
            <a:pPr lvl="1">
              <a:spcBef>
                <a:spcPts val="0"/>
              </a:spcBef>
              <a:defRPr sz="2800"/>
            </a:pPr>
            <a:br>
              <a:rPr lang="es-ES" sz="2800" dirty="0"/>
            </a:br>
            <a:r>
              <a:rPr lang="es-ES" sz="2800" dirty="0"/>
              <a:t>• Nacionales vs. multirregionales: Diferencias en el detalle geográfico.</a:t>
            </a:r>
          </a:p>
        </p:txBody>
      </p:sp>
    </p:spTree>
    <p:extLst>
      <p:ext uri="{BB962C8B-B14F-4D97-AF65-F5344CB8AC3E}">
        <p14:creationId xmlns:p14="http://schemas.microsoft.com/office/powerpoint/2010/main" val="1628773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9F782E8-82A5-7FA4-79C2-8ABEA632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64017"/>
            <a:ext cx="7162486" cy="447896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D7438F1-C271-582A-EDE8-6CE5826A399E}"/>
              </a:ext>
            </a:extLst>
          </p:cNvPr>
          <p:cNvSpPr txBox="1"/>
          <p:nvPr/>
        </p:nvSpPr>
        <p:spPr>
          <a:xfrm>
            <a:off x="311972" y="315020"/>
            <a:ext cx="10767508" cy="176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>
                <a:solidFill>
                  <a:srgbClr val="FF0000"/>
                </a:solidFill>
              </a:rPr>
              <a:t>Metodología</a:t>
            </a:r>
            <a:r>
              <a:rPr lang="es-ES" b="1" dirty="0">
                <a:solidFill>
                  <a:srgbClr val="FF0000"/>
                </a:solidFill>
              </a:rPr>
              <a:t>
	</a:t>
            </a:r>
            <a:r>
              <a:rPr lang="es-ES" b="1" u="sng" dirty="0"/>
              <a:t>4 pasos clave:</a:t>
            </a:r>
            <a:r>
              <a:rPr lang="es-ES" b="1" dirty="0"/>
              <a:t>
1 Alinear los microdatos con las cuentas nacionales (NA): </a:t>
            </a:r>
            <a:r>
              <a:rPr lang="es-ES" dirty="0"/>
              <a:t>Ajustar los datos de las encuestas para que se ajusten a los principios de NA.</a:t>
            </a:r>
            <a:endParaRPr lang="en-GB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BAFDC6-5F3A-0FAE-2A5A-62C121FBC527}"/>
              </a:ext>
            </a:extLst>
          </p:cNvPr>
          <p:cNvSpPr txBox="1"/>
          <p:nvPr/>
        </p:nvSpPr>
        <p:spPr>
          <a:xfrm>
            <a:off x="-127000" y="2224206"/>
            <a:ext cx="5506720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s-ES" b="1" dirty="0"/>
              <a:t>2 Clasificaciones puente (bridge): </a:t>
            </a:r>
            <a:r>
              <a:rPr lang="es-ES" dirty="0"/>
              <a:t>Conversión de datos de consumo de COICOP a CPA.</a:t>
            </a:r>
            <a:r>
              <a:rPr lang="es-ES" b="1" dirty="0"/>
              <a:t>
3 Conversión de valoración: </a:t>
            </a:r>
            <a:r>
              <a:rPr lang="es-ES" dirty="0"/>
              <a:t>Modificación de los datos de consumo de precios de adquisición a precios básicos.</a:t>
            </a:r>
            <a:r>
              <a:rPr lang="es-ES" b="1" dirty="0"/>
              <a:t>
</a:t>
            </a:r>
            <a:r>
              <a:rPr lang="es-ES" b="1" dirty="0">
                <a:solidFill>
                  <a:srgbClr val="0070C0"/>
                </a:solidFill>
              </a:rPr>
              <a:t>4 Ajuste a las clasificaciones de la industria (si es necesario): </a:t>
            </a:r>
            <a:r>
              <a:rPr lang="es-ES" dirty="0">
                <a:solidFill>
                  <a:srgbClr val="0070C0"/>
                </a:solidFill>
              </a:rPr>
              <a:t>Transformar los datos basados en productos en clasificaciones de la industria si es necesario.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FBDB6BD-7754-0ED6-FDFA-9A83C708525E}"/>
              </a:ext>
            </a:extLst>
          </p:cNvPr>
          <p:cNvSpPr/>
          <p:nvPr/>
        </p:nvSpPr>
        <p:spPr>
          <a:xfrm>
            <a:off x="9316121" y="2957039"/>
            <a:ext cx="1495313" cy="2690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8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C0E985-81B7-233A-B759-F5201EED3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124673"/>
            <a:ext cx="9669224" cy="603969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B9FF99B-B9F2-A5FE-7C08-671DD8290BF4}"/>
              </a:ext>
            </a:extLst>
          </p:cNvPr>
          <p:cNvSpPr txBox="1"/>
          <p:nvPr/>
        </p:nvSpPr>
        <p:spPr>
          <a:xfrm>
            <a:off x="1899920" y="6164366"/>
            <a:ext cx="725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Eurostat Manual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Supply</a:t>
            </a:r>
            <a:r>
              <a:rPr lang="es-ES" dirty="0"/>
              <a:t>, Use and Input-Output Tables (2008)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ACCB203-8EE4-C12A-F1B5-C0676EDBBCD7}"/>
              </a:ext>
            </a:extLst>
          </p:cNvPr>
          <p:cNvSpPr/>
          <p:nvPr/>
        </p:nvSpPr>
        <p:spPr>
          <a:xfrm>
            <a:off x="4114800" y="5222240"/>
            <a:ext cx="2092960" cy="8331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781220-D815-C0C4-3E39-12AAD68B7E01}"/>
              </a:ext>
            </a:extLst>
          </p:cNvPr>
          <p:cNvSpPr/>
          <p:nvPr/>
        </p:nvSpPr>
        <p:spPr>
          <a:xfrm>
            <a:off x="8656320" y="5222240"/>
            <a:ext cx="2092960" cy="8331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311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C795A14-98E1-F2E8-C1A0-053799697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88" y="204338"/>
            <a:ext cx="5030472" cy="355493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7053E98-44AE-1C58-8AFD-93B6D1FA4A7B}"/>
              </a:ext>
            </a:extLst>
          </p:cNvPr>
          <p:cNvSpPr txBox="1"/>
          <p:nvPr/>
        </p:nvSpPr>
        <p:spPr>
          <a:xfrm>
            <a:off x="1532888" y="5822664"/>
            <a:ext cx="91351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Rueda-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Cantuche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J. M., 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Beutel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J., 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Neuwahl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F., 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Mongelli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I., &amp; 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Loeschel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A. (2009). A SYMMETRIC INPUT–OUTPUT TABLE FOR EU27: LATEST PROGRESS. </a:t>
            </a:r>
            <a:r>
              <a:rPr lang="es-ES" sz="1600" i="1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Economic</a:t>
            </a:r>
            <a:r>
              <a:rPr lang="es-ES" sz="1600" i="1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 </a:t>
            </a:r>
            <a:r>
              <a:rPr lang="es-ES" sz="1600" i="1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Systems</a:t>
            </a:r>
            <a:r>
              <a:rPr lang="es-ES" sz="1600" i="1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 </a:t>
            </a:r>
            <a:r>
              <a:rPr lang="es-ES" sz="1600" i="1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Research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 </a:t>
            </a:r>
            <a:r>
              <a:rPr lang="es-ES" sz="1600" i="1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21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(1), 59–79. https://doi.org/10.1080/09535310802703429</a:t>
            </a:r>
            <a:endParaRPr lang="es-ES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8E57C6-1DB7-90A3-3D6C-0239C9994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152"/>
            <a:ext cx="12192000" cy="377569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8A6EABF-5D80-3ABE-AA0B-1730AFC7507C}"/>
              </a:ext>
            </a:extLst>
          </p:cNvPr>
          <p:cNvSpPr/>
          <p:nvPr/>
        </p:nvSpPr>
        <p:spPr>
          <a:xfrm>
            <a:off x="3301998" y="1981200"/>
            <a:ext cx="3037842" cy="1341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01F2F10-E820-B594-0FA7-BB1EA25E4376}"/>
              </a:ext>
            </a:extLst>
          </p:cNvPr>
          <p:cNvSpPr/>
          <p:nvPr/>
        </p:nvSpPr>
        <p:spPr>
          <a:xfrm>
            <a:off x="9113520" y="1899921"/>
            <a:ext cx="3078480" cy="14225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133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F2850-3D79-E2DC-57D6-D6BA7680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FB67259-E559-6D43-7F8E-E3562CAA6875}"/>
              </a:ext>
            </a:extLst>
          </p:cNvPr>
          <p:cNvSpPr/>
          <p:nvPr/>
        </p:nvSpPr>
        <p:spPr>
          <a:xfrm>
            <a:off x="1524001" y="6312624"/>
            <a:ext cx="9144001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Roboto Condensed Light"/>
                <a:cs typeface="Roboto Condensed Light"/>
              </a:rPr>
              <a:t>14-17 June 2022, Pisa, Italy</a:t>
            </a:r>
          </a:p>
        </p:txBody>
      </p:sp>
      <p:sp>
        <p:nvSpPr>
          <p:cNvPr id="16" name="8 Rectángulo">
            <a:extLst>
              <a:ext uri="{FF2B5EF4-FFF2-40B4-BE49-F238E27FC236}">
                <a16:creationId xmlns:a16="http://schemas.microsoft.com/office/drawing/2014/main" id="{4846FF0A-A939-C58B-6803-38AA6AA4CD20}"/>
              </a:ext>
            </a:extLst>
          </p:cNvPr>
          <p:cNvSpPr/>
          <p:nvPr/>
        </p:nvSpPr>
        <p:spPr>
          <a:xfrm>
            <a:off x="1295399" y="2226918"/>
            <a:ext cx="9601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Impartido por:</a:t>
            </a:r>
          </a:p>
          <a:p>
            <a:pPr algn="ctr">
              <a:lnSpc>
                <a:spcPct val="150000"/>
              </a:lnSpc>
            </a:pPr>
            <a:r>
              <a:rPr lang="es-ES" sz="2400" b="1" dirty="0">
                <a:solidFill>
                  <a:srgbClr val="1D68C1"/>
                </a:solidFill>
                <a:cs typeface="Times New Roman" panose="02020603050405020304" pitchFamily="18" charset="0"/>
              </a:rPr>
              <a:t>Manuel Tomás</a:t>
            </a: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.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Times New Roman" panose="02020603050405020304" pitchFamily="18" charset="0"/>
              </a:rPr>
              <a:t>BC3 (Basque Centre for Climate Change)</a:t>
            </a:r>
          </a:p>
          <a:p>
            <a:pPr algn="ctr">
              <a:lnSpc>
                <a:spcPct val="150000"/>
              </a:lnSpc>
            </a:pPr>
            <a:r>
              <a:rPr lang="es-ES" sz="2400" b="1" dirty="0">
                <a:solidFill>
                  <a:srgbClr val="1D68C1"/>
                </a:solidFill>
                <a:cs typeface="Times New Roman" panose="02020603050405020304" pitchFamily="18" charset="0"/>
              </a:rPr>
              <a:t>Ignacio Cazcarro</a:t>
            </a: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.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Times New Roman" panose="02020603050405020304" pitchFamily="18" charset="0"/>
              </a:rPr>
              <a:t>ARAID (Aragonese Agency for </a:t>
            </a:r>
            <a:r>
              <a:rPr lang="es-ES" sz="2400" dirty="0" err="1">
                <a:solidFill>
                  <a:schemeClr val="bg2">
                    <a:lumMod val="25000"/>
                  </a:schemeClr>
                </a:solidFill>
                <a:cs typeface="Times New Roman" panose="02020603050405020304" pitchFamily="18" charset="0"/>
              </a:rPr>
              <a:t>Research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Times New Roman" panose="02020603050405020304" pitchFamily="18" charset="0"/>
              </a:rPr>
              <a:t> and Development) &amp; BC3 (Basque Centre for Climate Change)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D80AC4-8266-7825-5E5F-AE4FB77CD867}"/>
              </a:ext>
            </a:extLst>
          </p:cNvPr>
          <p:cNvSpPr/>
          <p:nvPr/>
        </p:nvSpPr>
        <p:spPr>
          <a:xfrm>
            <a:off x="2862581" y="4638031"/>
            <a:ext cx="6096000" cy="21913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s-ES" b="1" dirty="0"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SHAIO</a:t>
            </a:r>
            <a:endParaRPr lang="en-GB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s-ES" b="1" dirty="0"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Escuela de Análisis Input-Output</a:t>
            </a:r>
            <a:endParaRPr lang="en-GB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b="1" dirty="0"/>
              <a:t>32</a:t>
            </a:r>
            <a:r>
              <a:rPr lang="es-ES" b="1" baseline="30000" dirty="0"/>
              <a:t>nd</a:t>
            </a:r>
            <a:r>
              <a:rPr lang="es-ES" b="1" dirty="0"/>
              <a:t> International Input-Output </a:t>
            </a:r>
            <a:r>
              <a:rPr lang="es-ES" b="1" dirty="0" err="1"/>
              <a:t>Association</a:t>
            </a:r>
            <a:r>
              <a:rPr lang="es-ES" b="1" dirty="0"/>
              <a:t> </a:t>
            </a:r>
            <a:r>
              <a:rPr lang="es-ES" b="1" dirty="0" err="1"/>
              <a:t>Conference</a:t>
            </a:r>
            <a:br>
              <a:rPr lang="es-ES" b="1" dirty="0"/>
            </a:br>
            <a:r>
              <a:rPr lang="es-ES" b="1" dirty="0"/>
              <a:t>14</a:t>
            </a:r>
            <a:r>
              <a:rPr lang="es-ES" b="1" baseline="30000" dirty="0"/>
              <a:t>th</a:t>
            </a:r>
            <a:r>
              <a:rPr lang="es-ES" b="1" dirty="0"/>
              <a:t> </a:t>
            </a:r>
            <a:r>
              <a:rPr lang="es-ES" b="1" dirty="0" err="1"/>
              <a:t>Edition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International School </a:t>
            </a:r>
            <a:r>
              <a:rPr lang="es-ES" b="1" dirty="0" err="1"/>
              <a:t>of</a:t>
            </a:r>
            <a:r>
              <a:rPr lang="es-ES" b="1" dirty="0"/>
              <a:t> I-O </a:t>
            </a:r>
            <a:r>
              <a:rPr lang="es-ES" b="1" dirty="0" err="1"/>
              <a:t>Analysis</a:t>
            </a:r>
            <a:br>
              <a:rPr lang="es-ES" b="1" dirty="0"/>
            </a:br>
            <a:r>
              <a:rPr lang="es-ES" b="1" dirty="0"/>
              <a:t>11</a:t>
            </a:r>
            <a:r>
              <a:rPr lang="es-ES" b="1" baseline="30000" dirty="0"/>
              <a:t>th</a:t>
            </a:r>
            <a:r>
              <a:rPr lang="es-ES" b="1" dirty="0"/>
              <a:t> Jornadas de Análisis Input Output</a:t>
            </a:r>
            <a:br>
              <a:rPr lang="es-ES" b="1" dirty="0"/>
            </a:br>
            <a:r>
              <a:rPr lang="es-ES" b="1" dirty="0"/>
              <a:t>22</a:t>
            </a:r>
            <a:r>
              <a:rPr lang="es-ES" b="1" baseline="30000" dirty="0"/>
              <a:t>nd</a:t>
            </a:r>
            <a:r>
              <a:rPr lang="es-ES" b="1" dirty="0"/>
              <a:t> - 26</a:t>
            </a:r>
            <a:r>
              <a:rPr lang="es-ES" b="1" baseline="30000" dirty="0"/>
              <a:t>th</a:t>
            </a:r>
            <a:r>
              <a:rPr lang="es-ES" b="1" dirty="0"/>
              <a:t> June 2026, Seville, Spain</a:t>
            </a:r>
          </a:p>
          <a:p>
            <a:pPr algn="ctr"/>
            <a:endParaRPr lang="es-E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49ACFB-C182-40DD-3A70-60B4040E77F0}"/>
              </a:ext>
            </a:extLst>
          </p:cNvPr>
          <p:cNvSpPr/>
          <p:nvPr/>
        </p:nvSpPr>
        <p:spPr>
          <a:xfrm>
            <a:off x="9753327" y="5928080"/>
            <a:ext cx="1829348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22 de Junio 2026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A310B7-E92B-A99E-2925-BEB8FC58D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38" y="5015627"/>
            <a:ext cx="1567070" cy="1469128"/>
          </a:xfrm>
          <a:prstGeom prst="rect">
            <a:avLst/>
          </a:prstGeom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7815B534-1437-5816-EEE3-60FF68BDD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091" y="294639"/>
            <a:ext cx="10775576" cy="1547734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36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Curso: Conceptualización e Integración de microdatos de consumo de hogares en modelos input-output</a:t>
            </a:r>
            <a:endParaRPr lang="es-ES" sz="3600" b="1" dirty="0">
              <a:solidFill>
                <a:srgbClr val="11B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70227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91A70-07FE-1809-6295-83D8C2CD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47629B-621C-09D9-1F60-DF8585F0D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9036B2-9A9F-3828-C02C-39AC7E64B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1B81E-B57E-7F89-95C5-C26DE455E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3A8F53-66E1-1FD1-AAA4-87709528E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9994A8-8F78-34B9-B1BE-55E19D14C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6D3F33-4463-83C5-8F89-9CD40874BD51}"/>
              </a:ext>
            </a:extLst>
          </p:cNvPr>
          <p:cNvSpPr txBox="1"/>
          <p:nvPr/>
        </p:nvSpPr>
        <p:spPr>
          <a:xfrm>
            <a:off x="681914" y="365658"/>
            <a:ext cx="1011936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ANEXO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chemeClr val="bg1"/>
                </a:solidFill>
              </a:rPr>
              <a:t>Matrices de Contabilidad Social – Construcción habitual y gaps</a:t>
            </a:r>
            <a:endParaRPr lang="en-US" sz="4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EAEC00-645F-31D0-0244-2F91E191A3F9}"/>
              </a:ext>
            </a:extLst>
          </p:cNvPr>
          <p:cNvSpPr txBox="1"/>
          <p:nvPr/>
        </p:nvSpPr>
        <p:spPr>
          <a:xfrm>
            <a:off x="388230" y="1834474"/>
            <a:ext cx="11143370" cy="4403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s-ES" sz="2400" b="1" i="0" dirty="0">
                <a:solidFill>
                  <a:srgbClr val="0F1115"/>
                </a:solidFill>
                <a:effectLst/>
                <a:latin typeface="quote-cjk-patch"/>
              </a:rPr>
              <a:t>¿Cómo se construyen habitualmente?</a:t>
            </a:r>
            <a:endParaRPr lang="es-E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rgbClr val="0F1115"/>
                </a:solidFill>
                <a:effectLst/>
                <a:latin typeface="quote-cjk-patch"/>
              </a:rPr>
              <a:t>Parten de una tabla input‑output (TIO) macro y de las cuentas institucionales del SEC 2010.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rgbClr val="0F1115"/>
                </a:solidFill>
                <a:effectLst/>
                <a:latin typeface="quote-cjk-patch"/>
              </a:rPr>
              <a:t>Desagregan el sector hogares usando la EPF y EU‑SILC (gasto y renta), normalmente por </a:t>
            </a:r>
            <a:r>
              <a:rPr lang="es-ES" sz="2400" b="0" i="0" dirty="0" err="1">
                <a:solidFill>
                  <a:srgbClr val="0F1115"/>
                </a:solidFill>
                <a:effectLst/>
                <a:latin typeface="quote-cjk-patch"/>
              </a:rPr>
              <a:t>decilas</a:t>
            </a:r>
            <a:r>
              <a:rPr lang="es-ES" sz="2400" b="0" i="0" dirty="0">
                <a:solidFill>
                  <a:srgbClr val="0F1115"/>
                </a:solidFill>
                <a:effectLst/>
                <a:latin typeface="quote-cjk-patch"/>
              </a:rPr>
              <a:t> de renta o tipos de hogar.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rgbClr val="0F1115"/>
                </a:solidFill>
                <a:effectLst/>
                <a:latin typeface="quote-cjk-patch"/>
              </a:rPr>
              <a:t>Segmentan el factor trabajo con LFS/SES (asalariados cualificados, </a:t>
            </a:r>
            <a:r>
              <a:rPr lang="es-ES" sz="2400" b="0" i="0" dirty="0" err="1">
                <a:solidFill>
                  <a:srgbClr val="0F1115"/>
                </a:solidFill>
                <a:effectLst/>
                <a:latin typeface="quote-cjk-patch"/>
              </a:rPr>
              <a:t>auto‑empleo</a:t>
            </a:r>
            <a:r>
              <a:rPr lang="es-ES" sz="2400" b="0" i="0" dirty="0"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rgbClr val="0F1115"/>
                </a:solidFill>
                <a:effectLst/>
                <a:latin typeface="quote-cjk-patch"/>
              </a:rPr>
              <a:t>Asignan el consumo público individual (educación, sanidad) mediante reparto simple o modelos de imputación básica.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rgbClr val="0F1115"/>
                </a:solidFill>
                <a:effectLst/>
                <a:latin typeface="quote-cjk-patch"/>
              </a:rPr>
              <a:t>Cuadran la SAM con técnicas RAS o máxima entropía.</a:t>
            </a:r>
          </a:p>
        </p:txBody>
      </p:sp>
    </p:spTree>
    <p:extLst>
      <p:ext uri="{BB962C8B-B14F-4D97-AF65-F5344CB8AC3E}">
        <p14:creationId xmlns:p14="http://schemas.microsoft.com/office/powerpoint/2010/main" val="29538891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6CCCCB-3B34-62D0-065B-CB0CAAEC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A901C-B30E-AC8D-8790-DAEBBCC4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5BBCCA-1BE2-6139-636D-9406CF9AB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8298D2-A053-FB5C-AB32-DBB1E3577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53B7D8-BFC7-E990-CD2E-7FB13A8CA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EC42B6-1190-F0BD-58D9-68C474962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98B8D7-8307-0EAD-B24A-6960B9D4B37D}"/>
              </a:ext>
            </a:extLst>
          </p:cNvPr>
          <p:cNvSpPr txBox="1"/>
          <p:nvPr/>
        </p:nvSpPr>
        <p:spPr>
          <a:xfrm>
            <a:off x="681914" y="365658"/>
            <a:ext cx="1011936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ANEXO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chemeClr val="bg1"/>
                </a:solidFill>
              </a:rPr>
              <a:t>Matrices de Contabilidad Social – Construcción habitual y gaps</a:t>
            </a:r>
            <a:endParaRPr lang="en-US" sz="4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565838-7777-6190-F784-E94F9ED545BC}"/>
              </a:ext>
            </a:extLst>
          </p:cNvPr>
          <p:cNvSpPr txBox="1"/>
          <p:nvPr/>
        </p:nvSpPr>
        <p:spPr>
          <a:xfrm>
            <a:off x="388230" y="1834474"/>
            <a:ext cx="1114337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latin typeface="quote-cjk-patch"/>
              </a:rPr>
              <a:t>Principales lagunas (gaps) detectadas</a:t>
            </a:r>
            <a:endParaRPr lang="es-ES" sz="2400" dirty="0">
              <a:latin typeface="quote-cjk-patch"/>
            </a:endParaRPr>
          </a:p>
          <a:p>
            <a:pPr lvl="1"/>
            <a:r>
              <a:rPr lang="es-ES" sz="2400" b="1" dirty="0">
                <a:latin typeface="quote-cjk-patch"/>
              </a:rPr>
              <a:t>Falta de base integrada renta‑consumo‑riqueza</a:t>
            </a:r>
            <a:r>
              <a:rPr lang="es-ES" sz="2400" dirty="0">
                <a:latin typeface="quote-cjk-patch"/>
              </a:rPr>
              <a:t> → el </a:t>
            </a:r>
            <a:r>
              <a:rPr lang="es-ES" sz="2400" i="1" dirty="0" err="1">
                <a:latin typeface="quote-cjk-patch"/>
              </a:rPr>
              <a:t>statistical</a:t>
            </a:r>
            <a:r>
              <a:rPr lang="es-ES" sz="2400" i="1" dirty="0">
                <a:latin typeface="quote-cjk-patch"/>
              </a:rPr>
              <a:t> </a:t>
            </a:r>
            <a:r>
              <a:rPr lang="es-ES" sz="2400" i="1" dirty="0" err="1">
                <a:latin typeface="quote-cjk-patch"/>
              </a:rPr>
              <a:t>matching</a:t>
            </a:r>
            <a:r>
              <a:rPr lang="es-ES" sz="2400" dirty="0">
                <a:latin typeface="quote-cjk-patch"/>
              </a:rPr>
              <a:t> distorsiona correlaciones reales.</a:t>
            </a:r>
          </a:p>
          <a:p>
            <a:pPr lvl="1"/>
            <a:r>
              <a:rPr lang="es-ES" sz="2400" b="1" dirty="0">
                <a:latin typeface="quote-cjk-patch"/>
              </a:rPr>
              <a:t>Rentas imputadas y producción doméstica</a:t>
            </a:r>
            <a:r>
              <a:rPr lang="es-ES" sz="2400" dirty="0">
                <a:latin typeface="quote-cjk-patch"/>
              </a:rPr>
              <a:t> tratadas de forma tosca: alquileres de propietarios con tasa única, ausencia de cuidados y trabajo no remunerado.</a:t>
            </a:r>
          </a:p>
          <a:p>
            <a:pPr lvl="1"/>
            <a:r>
              <a:rPr lang="es-ES" sz="2400" b="1" dirty="0">
                <a:latin typeface="quote-cjk-patch"/>
              </a:rPr>
              <a:t>Capital poco desagregado</a:t>
            </a:r>
            <a:r>
              <a:rPr lang="es-ES" sz="2400" dirty="0">
                <a:latin typeface="quote-cjk-patch"/>
              </a:rPr>
              <a:t>: el excedente de explotación aparece como una masa única, sin distinguir vivienda, activos financieros o capital empresarial.</a:t>
            </a:r>
          </a:p>
          <a:p>
            <a:pPr lvl="1"/>
            <a:r>
              <a:rPr lang="es-ES" sz="2400" b="1" dirty="0">
                <a:latin typeface="quote-cjk-patch"/>
              </a:rPr>
              <a:t>Gasto público individualizable (COFOG) pobremente reflejado</a:t>
            </a:r>
            <a:r>
              <a:rPr lang="es-ES" sz="2400" dirty="0">
                <a:latin typeface="quote-cjk-patch"/>
              </a:rPr>
              <a:t>: no se asigna por uso real de los servicios, limitando el análisis de bienestar.</a:t>
            </a:r>
          </a:p>
          <a:p>
            <a:pPr lvl="1"/>
            <a:r>
              <a:rPr lang="es-ES" sz="2400" b="1" dirty="0">
                <a:latin typeface="quote-cjk-patch"/>
              </a:rPr>
              <a:t>Dimensión regional y urbana/rural</a:t>
            </a:r>
            <a:r>
              <a:rPr lang="es-ES" sz="2400" dirty="0">
                <a:latin typeface="quote-cjk-patch"/>
              </a:rPr>
              <a:t> ignorada por falta de TIO regionales integradas.</a:t>
            </a:r>
          </a:p>
          <a:p>
            <a:pPr lvl="1"/>
            <a:r>
              <a:rPr lang="es-ES" sz="2400" b="1" dirty="0">
                <a:latin typeface="quote-cjk-patch"/>
              </a:rPr>
              <a:t>Economía informal y no observada</a:t>
            </a:r>
            <a:r>
              <a:rPr lang="es-ES" sz="2400" dirty="0">
                <a:latin typeface="quote-cjk-patch"/>
              </a:rPr>
              <a:t> ausente, a pesar de estar en las cuentas nacionales.</a:t>
            </a:r>
          </a:p>
        </p:txBody>
      </p:sp>
    </p:spTree>
    <p:extLst>
      <p:ext uri="{BB962C8B-B14F-4D97-AF65-F5344CB8AC3E}">
        <p14:creationId xmlns:p14="http://schemas.microsoft.com/office/powerpoint/2010/main" val="1940387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6ECD0-955D-633E-FE37-14E47C5E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E64C9B-F301-FB27-D008-DC651CBAC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3EE395-156E-2661-DAAB-A03B3C4B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B4043C-7A1A-2C3D-A162-9B8896E08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2199EC-A9B2-B3EE-B47C-BF2A1940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5312FA-0BED-F996-E3E6-A8AAF2420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81C976-FF5D-B350-CA84-9C08A09AA7C3}"/>
              </a:ext>
            </a:extLst>
          </p:cNvPr>
          <p:cNvSpPr txBox="1"/>
          <p:nvPr/>
        </p:nvSpPr>
        <p:spPr>
          <a:xfrm>
            <a:off x="681914" y="365658"/>
            <a:ext cx="1011936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ANEXO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chemeClr val="bg1"/>
                </a:solidFill>
              </a:rPr>
              <a:t>Hacia una SAM “ideal” que explote todos los microdatos</a:t>
            </a:r>
            <a:endParaRPr lang="en-US" sz="4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D5BC54-FEF0-B7E1-DD45-6FEA6580304F}"/>
              </a:ext>
            </a:extLst>
          </p:cNvPr>
          <p:cNvSpPr txBox="1"/>
          <p:nvPr/>
        </p:nvSpPr>
        <p:spPr>
          <a:xfrm>
            <a:off x="357750" y="1764985"/>
            <a:ext cx="1173264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Pasos para una SAM plenamente </a:t>
            </a:r>
            <a:r>
              <a:rPr lang="es-ES" sz="2000" b="1" dirty="0" err="1"/>
              <a:t>microfundamentada</a:t>
            </a:r>
            <a:endParaRPr lang="es-ES" sz="2000" dirty="0"/>
          </a:p>
          <a:p>
            <a:pPr lvl="1"/>
            <a:r>
              <a:rPr lang="es-ES" sz="2000" b="1" dirty="0"/>
              <a:t>Fusión renta‑consumo‑riqueza calibrada a CN</a:t>
            </a:r>
            <a:r>
              <a:rPr lang="es-ES" sz="2000" dirty="0"/>
              <a:t> (DINA) usando cuentas financieras y de renta.</a:t>
            </a:r>
          </a:p>
          <a:p>
            <a:pPr lvl="1"/>
            <a:r>
              <a:rPr lang="es-ES" sz="2000" b="1" dirty="0"/>
              <a:t>Factores de producción heterogéneos</a:t>
            </a:r>
            <a:r>
              <a:rPr lang="es-ES" sz="2000" dirty="0"/>
              <a:t>: capital inmobiliario, financiero y empresarial, con rentas extraídas de la HFCS y cuentas de la propiedad.</a:t>
            </a:r>
          </a:p>
          <a:p>
            <a:pPr lvl="1"/>
            <a:r>
              <a:rPr lang="es-ES" sz="2000" b="1" dirty="0"/>
              <a:t>Consumo público individualizado</a:t>
            </a:r>
            <a:r>
              <a:rPr lang="es-ES" sz="2000" dirty="0"/>
              <a:t> por tipo de hogar combinando EU‑SILC, EHIS, SHA y registros de educación, no solo repartos per cápita.</a:t>
            </a:r>
          </a:p>
          <a:p>
            <a:pPr lvl="1"/>
            <a:r>
              <a:rPr lang="es-ES" sz="2000" b="1" dirty="0"/>
              <a:t>Cuenta satélite de producción doméstica</a:t>
            </a:r>
            <a:r>
              <a:rPr lang="es-ES" sz="2000" dirty="0"/>
              <a:t> valorada por coste de reposición, con sus correspondientes filas/columnas en la SAM.</a:t>
            </a:r>
          </a:p>
          <a:p>
            <a:pPr lvl="1"/>
            <a:r>
              <a:rPr lang="es-ES" sz="2000" b="1" dirty="0"/>
              <a:t>Desagregación territorial</a:t>
            </a:r>
            <a:r>
              <a:rPr lang="es-ES" sz="2000" dirty="0"/>
              <a:t> (al menos NUTS2) conectando SAM nacionales y datos de comercio interregional, respetando confidencialidad.</a:t>
            </a:r>
          </a:p>
          <a:p>
            <a:pPr lvl="1"/>
            <a:r>
              <a:rPr lang="es-ES" sz="2000" b="1" dirty="0"/>
              <a:t>Coherencia temporal y financiera</a:t>
            </a:r>
            <a:r>
              <a:rPr lang="es-ES" sz="2000" dirty="0"/>
              <a:t>: enlazar la SAM con cuentas trimestrales y balances financieros.</a:t>
            </a:r>
          </a:p>
          <a:p>
            <a:pPr lvl="1"/>
            <a:endParaRPr lang="es-ES" sz="2000" dirty="0"/>
          </a:p>
          <a:p>
            <a:r>
              <a:rPr lang="es-ES" sz="2000" b="1" dirty="0"/>
              <a:t>Herramienta metodológica recomendada</a:t>
            </a:r>
            <a:r>
              <a:rPr lang="es-ES" sz="2000" dirty="0"/>
              <a:t>: máxima entropía generalizada para cuadrar múltiples fuentes con distintos niveles de fiabilidad.</a:t>
            </a:r>
          </a:p>
          <a:p>
            <a:r>
              <a:rPr lang="es-ES" sz="2000" dirty="0"/>
              <a:t>SAMS con esta riqueza servirían de base para modelos macro que requieran heterogeneidad realista.</a:t>
            </a:r>
          </a:p>
        </p:txBody>
      </p:sp>
    </p:spTree>
    <p:extLst>
      <p:ext uri="{BB962C8B-B14F-4D97-AF65-F5344CB8AC3E}">
        <p14:creationId xmlns:p14="http://schemas.microsoft.com/office/powerpoint/2010/main" val="37628508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34B1F-5B0C-FC40-65B8-22E7C7A4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47CD25-C5AF-9532-870B-94233EEA4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42BC26-6A69-C103-5ECC-3A7F965A0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91E07B-1982-A4ED-4BAF-3D6B9537F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182CC6-0746-2058-3ABE-6A633F245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ECF59B-E1CC-DAB8-9C62-0E0CA4492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6735EF-261E-7DAE-30DB-65F6B031637B}"/>
              </a:ext>
            </a:extLst>
          </p:cNvPr>
          <p:cNvSpPr txBox="1"/>
          <p:nvPr/>
        </p:nvSpPr>
        <p:spPr>
          <a:xfrm>
            <a:off x="681914" y="365658"/>
            <a:ext cx="1011936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ANEXO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400" b="1" dirty="0">
                <a:solidFill>
                  <a:schemeClr val="bg1"/>
                </a:solidFill>
              </a:rPr>
              <a:t>Mejora de los modelos macroeconómicos gracias a microdatos desagregados</a:t>
            </a:r>
            <a:endParaRPr lang="en-US" sz="4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7D5CA2F-845E-9D91-FC93-831B3B917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315705"/>
              </p:ext>
            </p:extLst>
          </p:nvPr>
        </p:nvGraphicFramePr>
        <p:xfrm>
          <a:off x="4" y="148093"/>
          <a:ext cx="12191996" cy="6604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5176">
                  <a:extLst>
                    <a:ext uri="{9D8B030D-6E8A-4147-A177-3AD203B41FA5}">
                      <a16:colId xmlns:a16="http://schemas.microsoft.com/office/drawing/2014/main" val="1329045224"/>
                    </a:ext>
                  </a:extLst>
                </a:gridCol>
                <a:gridCol w="3739784">
                  <a:extLst>
                    <a:ext uri="{9D8B030D-6E8A-4147-A177-3AD203B41FA5}">
                      <a16:colId xmlns:a16="http://schemas.microsoft.com/office/drawing/2014/main" val="1703807766"/>
                    </a:ext>
                  </a:extLst>
                </a:gridCol>
                <a:gridCol w="6797036">
                  <a:extLst>
                    <a:ext uri="{9D8B030D-6E8A-4147-A177-3AD203B41FA5}">
                      <a16:colId xmlns:a16="http://schemas.microsoft.com/office/drawing/2014/main" val="3373214094"/>
                    </a:ext>
                  </a:extLst>
                </a:gridCol>
              </a:tblGrid>
              <a:tr h="3397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Modelo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41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>
                          <a:effectLst/>
                        </a:rPr>
                        <a:t>Limitación actual</a:t>
                      </a:r>
                      <a:endParaRPr lang="es-ES" sz="1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Mejora gracias a microdatos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26764" marT="16793" marB="16793" anchor="ctr"/>
                </a:tc>
                <a:extLst>
                  <a:ext uri="{0D108BD9-81ED-4DB2-BD59-A6C34878D82A}">
                    <a16:rowId xmlns:a16="http://schemas.microsoft.com/office/drawing/2014/main" val="696315708"/>
                  </a:ext>
                </a:extLst>
              </a:tr>
              <a:tr h="9824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CGE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41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Hogar representativo o unos pocos tipos; </a:t>
                      </a:r>
                      <a:r>
                        <a:rPr lang="es-ES" sz="1800" kern="100" dirty="0" err="1">
                          <a:effectLst/>
                        </a:rPr>
                        <a:t>microsimulación</a:t>
                      </a:r>
                      <a:r>
                        <a:rPr lang="es-ES" sz="1800" kern="100" dirty="0">
                          <a:effectLst/>
                        </a:rPr>
                        <a:t> desacoplada.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Cestas de consumo heterogéneas (EPF); oferta laboral segmentada (LFS/SES); </a:t>
                      </a:r>
                      <a:r>
                        <a:rPr lang="es-ES" sz="1800" kern="100" dirty="0" err="1">
                          <a:effectLst/>
                        </a:rPr>
                        <a:t>propensionesal</a:t>
                      </a:r>
                      <a:r>
                        <a:rPr lang="es-ES" sz="1800" kern="100" dirty="0">
                          <a:effectLst/>
                        </a:rPr>
                        <a:t> ahorro por decil de riqueza (HFCS).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19941" marT="16793" marB="16793" anchor="ctr"/>
                </a:tc>
                <a:extLst>
                  <a:ext uri="{0D108BD9-81ED-4DB2-BD59-A6C34878D82A}">
                    <a16:rowId xmlns:a16="http://schemas.microsoft.com/office/drawing/2014/main" val="1322241700"/>
                  </a:ext>
                </a:extLst>
              </a:tr>
              <a:tr h="9824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HANK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41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Un solo bien de consumo, sin estructura productiva.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Múltiples bienes ligados a TIO; transferencias en especie (COFOG‑SILC) que afectan utilidad y oferta laboral; restricciones crediticias calibradas con HFCS.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19941" marT="16793" marB="16793" anchor="ctr"/>
                </a:tc>
                <a:extLst>
                  <a:ext uri="{0D108BD9-81ED-4DB2-BD59-A6C34878D82A}">
                    <a16:rowId xmlns:a16="http://schemas.microsoft.com/office/drawing/2014/main" val="1861255924"/>
                  </a:ext>
                </a:extLst>
              </a:tr>
              <a:tr h="1237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DSGE representativos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41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Agente representativo → multiplicadores fiscales irreales, sin diferenciar propensiones al consumo.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Distribuciones empíricas de renta y riqueza; shocks idiosincrásicos de empleo calibrados con panel SILC.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19941" marT="16793" marB="16793" anchor="ctr"/>
                </a:tc>
                <a:extLst>
                  <a:ext uri="{0D108BD9-81ED-4DB2-BD59-A6C34878D82A}">
                    <a16:rowId xmlns:a16="http://schemas.microsoft.com/office/drawing/2014/main" val="2038291569"/>
                  </a:ext>
                </a:extLst>
              </a:tr>
              <a:tr h="13038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Post‑keynesianos / SFC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41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División simple trabajadores‑rentistas sin microfundamentos distributivos.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Distribución empírica de riqueza y deuda (HFCS) → dinámicas de fragilidad financiera por decil; cestas de consumo diferenciadas para inflación asimétrica; multiplicadores del gasto público por tipo de gasto.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19941" marT="16793" marB="16793" anchor="ctr"/>
                </a:tc>
                <a:extLst>
                  <a:ext uri="{0D108BD9-81ED-4DB2-BD59-A6C34878D82A}">
                    <a16:rowId xmlns:a16="http://schemas.microsoft.com/office/drawing/2014/main" val="737075754"/>
                  </a:ext>
                </a:extLst>
              </a:tr>
              <a:tr h="9824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IAM (climáticos)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41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Consumidor representativo mundial o regional.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Huellas de carbono por decil (EPF + cuentas ambientales) → evaluación precisa de impuestos al carbono con compensación focalizada.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19941" marT="16793" marB="16793" anchor="ctr"/>
                </a:tc>
                <a:extLst>
                  <a:ext uri="{0D108BD9-81ED-4DB2-BD59-A6C34878D82A}">
                    <a16:rowId xmlns:a16="http://schemas.microsoft.com/office/drawing/2014/main" val="2506082340"/>
                  </a:ext>
                </a:extLst>
              </a:tr>
              <a:tr h="7330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Dinámica de sistemas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41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Calibración débil de parámetros de comportamiento.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26764" marT="16793" marB="167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Rapidez de ajuste del consumo a la renta según riqueza (EPF+HFCS); sensibilidades diferenciadas por clase.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764" marR="19941" marT="16793" marB="16793" anchor="ctr"/>
                </a:tc>
                <a:extLst>
                  <a:ext uri="{0D108BD9-81ED-4DB2-BD59-A6C34878D82A}">
                    <a16:rowId xmlns:a16="http://schemas.microsoft.com/office/drawing/2014/main" val="257923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7631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800"/>
            </a:pPr>
            <a:r>
              <a:rPr dirty="0" err="1"/>
              <a:t>Curso</a:t>
            </a:r>
            <a:r>
              <a:rPr dirty="0"/>
              <a:t>: </a:t>
            </a:r>
            <a:r>
              <a:rPr dirty="0" err="1"/>
              <a:t>Integración</a:t>
            </a:r>
            <a:r>
              <a:rPr dirty="0"/>
              <a:t> de </a:t>
            </a:r>
            <a:r>
              <a:rPr dirty="0" err="1"/>
              <a:t>microdatos</a:t>
            </a:r>
            <a:r>
              <a:rPr dirty="0"/>
              <a:t> de </a:t>
            </a:r>
            <a:r>
              <a:rPr dirty="0" err="1"/>
              <a:t>consumo</a:t>
            </a:r>
            <a:r>
              <a:rPr dirty="0"/>
              <a:t> de </a:t>
            </a:r>
            <a:r>
              <a:rPr dirty="0" err="1"/>
              <a:t>hogares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Impartido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: Manuel Tomás (BC3) e Ignacio </a:t>
            </a:r>
            <a:r>
              <a:rPr dirty="0" err="1"/>
              <a:t>Cazcarro</a:t>
            </a:r>
            <a:r>
              <a:rPr dirty="0"/>
              <a:t> (ARAID &amp; BC3</a:t>
            </a:r>
            <a:r>
              <a:rPr lang="es-ES" dirty="0"/>
              <a:t> </a:t>
            </a:r>
            <a:r>
              <a:rPr lang="es-ES" dirty="0" err="1"/>
              <a:t>associate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lang="es-ES" dirty="0"/>
              <a:t>Sevilla</a:t>
            </a:r>
            <a:r>
              <a:rPr dirty="0"/>
              <a:t> (España), </a:t>
            </a:r>
            <a:r>
              <a:rPr lang="es-ES" dirty="0"/>
              <a:t>22</a:t>
            </a:r>
            <a:r>
              <a:rPr dirty="0"/>
              <a:t> de </a:t>
            </a:r>
            <a:r>
              <a:rPr lang="es-ES" dirty="0"/>
              <a:t>Junio</a:t>
            </a:r>
            <a:r>
              <a:rPr dirty="0"/>
              <a:t> de 202</a:t>
            </a:r>
            <a:r>
              <a:rPr lang="es-ES" dirty="0"/>
              <a:t>6</a:t>
            </a:r>
            <a:br>
              <a:rPr dirty="0"/>
            </a:br>
            <a:br>
              <a:rPr dirty="0"/>
            </a:br>
            <a:r>
              <a:rPr dirty="0" err="1"/>
              <a:t>Contacto</a:t>
            </a:r>
            <a:r>
              <a:rPr dirty="0"/>
              <a:t>: manuel.tomas@bc3research.org &amp; icazcarr@unizar.es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80A6612-0C48-1D1B-EF45-FB3160AD7EDA}"/>
              </a:ext>
            </a:extLst>
          </p:cNvPr>
          <p:cNvSpPr txBox="1">
            <a:spLocks/>
          </p:cNvSpPr>
          <p:nvPr/>
        </p:nvSpPr>
        <p:spPr>
          <a:xfrm>
            <a:off x="1442720" y="427767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400"/>
            </a:pPr>
            <a:r>
              <a:rPr lang="es-ES" sz="8000" dirty="0">
                <a:solidFill>
                  <a:srgbClr val="FF0000"/>
                </a:solidFill>
              </a:rPr>
              <a:t>Sesión 1-2</a:t>
            </a:r>
          </a:p>
        </p:txBody>
      </p:sp>
    </p:spTree>
    <p:extLst>
      <p:ext uri="{BB962C8B-B14F-4D97-AF65-F5344CB8AC3E}">
        <p14:creationId xmlns:p14="http://schemas.microsoft.com/office/powerpoint/2010/main" val="23337703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575DC-DF30-8545-422A-942EB910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E216B05-DBC6-F0CB-EE6D-E927F9FAA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7EA82-F8D0-B3EA-9038-515F3A941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2B0125-793B-4E16-E7C2-8C5B2D4A2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CB580-4BC6-3939-4379-01CBCB3C4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70EB13-F2A9-D60F-8140-5C7A84396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2718C5-5382-4F6D-C38C-553C4F2031F5}"/>
              </a:ext>
            </a:extLst>
          </p:cNvPr>
          <p:cNvSpPr txBox="1"/>
          <p:nvPr/>
        </p:nvSpPr>
        <p:spPr>
          <a:xfrm>
            <a:off x="661594" y="294538"/>
            <a:ext cx="1011936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Modelos económicos multisectoriales y datos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741F81-ABD0-73B1-FA54-A5FD086012D5}"/>
              </a:ext>
            </a:extLst>
          </p:cNvPr>
          <p:cNvSpPr txBox="1"/>
          <p:nvPr/>
        </p:nvSpPr>
        <p:spPr>
          <a:xfrm>
            <a:off x="286632" y="1597432"/>
            <a:ext cx="11732646" cy="2796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400" b="1" dirty="0"/>
              <a:t>Explicación del modelo:
</a:t>
            </a:r>
            <a:r>
              <a:rPr lang="es-ES" sz="2400" u="sng" dirty="0"/>
              <a:t>Tipos de modelos utilizados</a:t>
            </a:r>
            <a:r>
              <a:rPr lang="es-ES" sz="2400" b="1" dirty="0"/>
              <a:t>: </a:t>
            </a:r>
            <a:r>
              <a:rPr lang="es-ES" sz="2400" dirty="0"/>
              <a:t>Modelos input-output (insumo-producto), que mapean las relaciones entre las industrias y los consumidores finales.</a:t>
            </a:r>
            <a:r>
              <a:rPr lang="es-ES" sz="2400" b="1" dirty="0"/>
              <a:t>
</a:t>
            </a:r>
            <a:r>
              <a:rPr lang="es-ES" sz="2400" dirty="0"/>
              <a:t>Estos modelos ayudan a </a:t>
            </a:r>
            <a:r>
              <a:rPr lang="es-ES" sz="2400" u="sng" dirty="0"/>
              <a:t>rastrear </a:t>
            </a:r>
            <a:r>
              <a:rPr lang="es-ES" sz="2400" u="sng" dirty="0" err="1"/>
              <a:t>cóo</a:t>
            </a:r>
            <a:r>
              <a:rPr lang="es-ES" sz="2400" u="sng" dirty="0"/>
              <a:t> las actividades económicas de un sector impactan </a:t>
            </a:r>
            <a:r>
              <a:rPr lang="es-ES" sz="2400" dirty="0"/>
              <a:t>en otros y en la economía en general.
</a:t>
            </a:r>
            <a:r>
              <a:rPr lang="es-ES" sz="2400" u="sng" dirty="0"/>
              <a:t>La integración de los datos de consumo refina estos modelos</a:t>
            </a:r>
            <a:r>
              <a:rPr lang="es-ES" sz="2400" dirty="0"/>
              <a:t>, haciéndolos más sensibles al comportamiento de los consumidores en el mundo real.</a:t>
            </a:r>
            <a:endParaRPr lang="en-US" sz="24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AAA0CAA-1F7D-2A4A-AC51-20D457902DDA}"/>
              </a:ext>
            </a:extLst>
          </p:cNvPr>
          <p:cNvSpPr txBox="1"/>
          <p:nvPr/>
        </p:nvSpPr>
        <p:spPr>
          <a:xfrm>
            <a:off x="286632" y="4400976"/>
            <a:ext cx="114950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 Encuestas de consumo: </a:t>
            </a:r>
            <a:r>
              <a:rPr lang="es-ES" sz="2400" dirty="0"/>
              <a:t>Encuestas de consumo de hogares a escala de la UE, que proporcionan información detallada sobre el gasto en diferentes bienes y servicios.</a:t>
            </a:r>
            <a:r>
              <a:rPr lang="es-ES" sz="2400" b="1" dirty="0"/>
              <a:t>
 Datos económicos: </a:t>
            </a:r>
            <a:r>
              <a:rPr lang="es-ES" sz="2400" dirty="0"/>
              <a:t>Los datos de las cuentas nacionales y las tablas de input-output también se utilizan para informar los modelos económicos.</a:t>
            </a:r>
            <a:r>
              <a:rPr lang="es-ES" sz="2400" b="1" dirty="0"/>
              <a:t>
 </a:t>
            </a:r>
            <a:r>
              <a:rPr lang="es-ES" sz="2400" dirty="0"/>
              <a:t>La </a:t>
            </a:r>
            <a:r>
              <a:rPr lang="es-ES" sz="2400" b="1" dirty="0"/>
              <a:t>combinación de estas fuentes </a:t>
            </a:r>
            <a:r>
              <a:rPr lang="es-ES" sz="2400" dirty="0"/>
              <a:t>de datos permite un análisis exhaustivo de la economía de la UE tanto a nivel macroeconómico como micro.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216911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66E16AD-FB21-8DDF-174F-42FB2D474A3A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4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Técnicas de integración de datos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9AA0EC8-1E69-1519-8DC4-9DEFDD25A049}"/>
              </a:ext>
            </a:extLst>
          </p:cNvPr>
          <p:cNvSpPr txBox="1"/>
          <p:nvPr/>
        </p:nvSpPr>
        <p:spPr>
          <a:xfrm>
            <a:off x="128955" y="1590741"/>
            <a:ext cx="12063042" cy="243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400" b="1" dirty="0"/>
              <a:t>Conexión de modelos y datos: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1000" b="1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u="sng" dirty="0"/>
              <a:t>Técnicas estadísticas </a:t>
            </a:r>
            <a:r>
              <a:rPr lang="es-ES" sz="2400" dirty="0"/>
              <a:t>para fusionar datos de encuestas de consumo con modelos económicos.
Este proceso implica armonizar las fuentes de datos para garantizar la coherencia de las definiciones y las unidades.
La integración permite que el modelo refleje los patrones de consumo reales, mejorando su poder predictivo.</a:t>
            </a:r>
            <a:endParaRPr lang="en-US" sz="24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B5FC8D8-F5E2-E12C-8F50-EEC6EEEFCE37}"/>
              </a:ext>
            </a:extLst>
          </p:cNvPr>
          <p:cNvSpPr txBox="1"/>
          <p:nvPr/>
        </p:nvSpPr>
        <p:spPr>
          <a:xfrm>
            <a:off x="128952" y="4021015"/>
            <a:ext cx="11732645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Detalles de las encuestas de consumo de la UE: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Las encuestas abarcan </a:t>
            </a:r>
            <a:r>
              <a:rPr lang="es-ES" sz="2400" u="sng" dirty="0"/>
              <a:t>diversos aspectos del consumo de los hogares</a:t>
            </a:r>
            <a:r>
              <a:rPr lang="es-ES" sz="2400" dirty="0"/>
              <a:t>, como la alimentación, la vivienda, el transporte y las actividades de ocio.
Estas encuestas </a:t>
            </a:r>
            <a:r>
              <a:rPr lang="es-ES" sz="2400" u="sng" dirty="0"/>
              <a:t>se llevan a cabo periódicamente </a:t>
            </a:r>
            <a:r>
              <a:rPr lang="es-ES" sz="2400" dirty="0"/>
              <a:t>en todos los Estados miembros de la UE, lo que proporciona un conjunto de datos coherente para el análisis.
Los datos </a:t>
            </a:r>
            <a:r>
              <a:rPr lang="es-ES" sz="2400" u="sng" dirty="0"/>
              <a:t>se desglosan </a:t>
            </a:r>
            <a:r>
              <a:rPr lang="es-ES" sz="2400" dirty="0"/>
              <a:t>por grupo de ingresos, edad y otros factores demográficos, lo que permite una comprensión detallada de los patrones de consumo.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8191584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0D343A-C07A-1A20-C685-AE5DB44EF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62" y="111367"/>
            <a:ext cx="5953956" cy="68303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14E20DD-6F2A-0BEC-5728-B94A5213E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88" y="2031607"/>
            <a:ext cx="4961666" cy="379007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7BCD5D1-AD20-6AFD-7562-338B18469C77}"/>
              </a:ext>
            </a:extLst>
          </p:cNvPr>
          <p:cNvSpPr txBox="1">
            <a:spLocks/>
          </p:cNvSpPr>
          <p:nvPr/>
        </p:nvSpPr>
        <p:spPr>
          <a:xfrm>
            <a:off x="289560" y="263525"/>
            <a:ext cx="605028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rgbClr val="FF0000"/>
                </a:solidFill>
              </a:rPr>
              <a:t>RAS </a:t>
            </a:r>
            <a:r>
              <a:rPr lang="es-ES" sz="4000" dirty="0" err="1">
                <a:solidFill>
                  <a:srgbClr val="FF0000"/>
                </a:solidFill>
              </a:rPr>
              <a:t>type</a:t>
            </a:r>
            <a:endParaRPr lang="es-ES" sz="4000" dirty="0">
              <a:solidFill>
                <a:srgbClr val="FF0000"/>
              </a:solidFill>
            </a:endParaRPr>
          </a:p>
          <a:p>
            <a:pPr algn="l"/>
            <a:r>
              <a:rPr lang="es-ES" sz="4000" dirty="0" err="1">
                <a:solidFill>
                  <a:srgbClr val="FF0000"/>
                </a:solidFill>
              </a:rPr>
              <a:t>Biproportional</a:t>
            </a:r>
            <a:r>
              <a:rPr lang="es-ES" sz="4000" dirty="0">
                <a:solidFill>
                  <a:srgbClr val="FF0000"/>
                </a:solidFill>
              </a:rPr>
              <a:t> </a:t>
            </a:r>
            <a:r>
              <a:rPr lang="es-ES" sz="4000" dirty="0" err="1">
                <a:solidFill>
                  <a:srgbClr val="FF0000"/>
                </a:solidFill>
              </a:rPr>
              <a:t>methods</a:t>
            </a:r>
            <a:endParaRPr lang="es-ES" sz="4000" dirty="0">
              <a:solidFill>
                <a:srgbClr val="FF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A8CF89-D69F-29A2-E0AE-5D827A0C15EC}"/>
              </a:ext>
            </a:extLst>
          </p:cNvPr>
          <p:cNvSpPr/>
          <p:nvPr/>
        </p:nvSpPr>
        <p:spPr>
          <a:xfrm>
            <a:off x="5445662" y="5821680"/>
            <a:ext cx="4348578" cy="386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DB5A4E-395B-4B2E-E12D-29A97756C2FF}"/>
              </a:ext>
            </a:extLst>
          </p:cNvPr>
          <p:cNvSpPr/>
          <p:nvPr/>
        </p:nvSpPr>
        <p:spPr>
          <a:xfrm>
            <a:off x="5526942" y="1570000"/>
            <a:ext cx="3962498" cy="583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19494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02409-BFC1-0CA5-FA05-6E5DD497B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F778314-84F2-A1BD-78FF-8A82E56C8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22E0CE-889E-C0BB-06D4-180A6411B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F7D6A2-BDB6-4658-6820-E760E92BA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858CFC-A40F-EA1A-EB21-7E8BF063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B2F0A4-8F4A-AA96-7E29-033E032FD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40E53B-8DD8-29F8-FB6F-92576389107E}"/>
              </a:ext>
            </a:extLst>
          </p:cNvPr>
          <p:cNvSpPr txBox="1"/>
          <p:nvPr/>
        </p:nvSpPr>
        <p:spPr>
          <a:xfrm>
            <a:off x="1277815" y="107227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ANEXOS TÉCNICOS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n 4">
            <a:hlinkClick r:id="rId2"/>
            <a:extLst>
              <a:ext uri="{FF2B5EF4-FFF2-40B4-BE49-F238E27FC236}">
                <a16:creationId xmlns:a16="http://schemas.microsoft.com/office/drawing/2014/main" id="{33CD33BA-7E1B-7887-46A4-A657D5CF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289" y="1140897"/>
            <a:ext cx="7662138" cy="569233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A36BF0F-0708-DEEC-32E5-9B5561E216AF}"/>
              </a:ext>
            </a:extLst>
          </p:cNvPr>
          <p:cNvSpPr/>
          <p:nvPr/>
        </p:nvSpPr>
        <p:spPr>
          <a:xfrm>
            <a:off x="2084355" y="6000522"/>
            <a:ext cx="7552005" cy="8574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41558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309C7AF-B8BC-1EA8-32D0-68E18FF8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62" y="0"/>
            <a:ext cx="9669224" cy="66970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3F949E-7F31-474C-7B48-60810418A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283" y="1042654"/>
            <a:ext cx="8659433" cy="477269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07DF43F-4E1A-A45E-ECB3-64D1F472E2FC}"/>
              </a:ext>
            </a:extLst>
          </p:cNvPr>
          <p:cNvSpPr txBox="1"/>
          <p:nvPr/>
        </p:nvSpPr>
        <p:spPr>
          <a:xfrm>
            <a:off x="507705" y="632767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https://slideplayer.com/slide/14983416/</a:t>
            </a:r>
          </a:p>
        </p:txBody>
      </p:sp>
    </p:spTree>
    <p:extLst>
      <p:ext uri="{BB962C8B-B14F-4D97-AF65-F5344CB8AC3E}">
        <p14:creationId xmlns:p14="http://schemas.microsoft.com/office/powerpoint/2010/main" val="157397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C795A14-98E1-F2E8-C1A0-053799697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88" y="204338"/>
            <a:ext cx="5030472" cy="35549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8EDC55A-F7DB-2B6F-E2B5-15D9D9960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"/>
            <a:ext cx="9144000" cy="56410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C446444-A691-2F45-B401-8458C3A9F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112" y="747260"/>
            <a:ext cx="9144000" cy="395291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E8CDCAF9-E374-94FD-E989-D77AE6F36887}"/>
              </a:ext>
            </a:extLst>
          </p:cNvPr>
          <p:cNvSpPr/>
          <p:nvPr/>
        </p:nvSpPr>
        <p:spPr>
          <a:xfrm>
            <a:off x="3911600" y="1509598"/>
            <a:ext cx="2072640" cy="3190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8A6EABF-5D80-3ABE-AA0B-1730AFC7507C}"/>
              </a:ext>
            </a:extLst>
          </p:cNvPr>
          <p:cNvSpPr/>
          <p:nvPr/>
        </p:nvSpPr>
        <p:spPr>
          <a:xfrm>
            <a:off x="3108958" y="4876834"/>
            <a:ext cx="3180082" cy="8231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B56D6B-E62B-7A59-6FFA-2C801C164708}"/>
              </a:ext>
            </a:extLst>
          </p:cNvPr>
          <p:cNvSpPr txBox="1"/>
          <p:nvPr/>
        </p:nvSpPr>
        <p:spPr>
          <a:xfrm>
            <a:off x="3261360" y="4919930"/>
            <a:ext cx="3098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Producto por producto (no hace falta más transformación)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E48F6C1-05AE-8F73-A659-42186FF2D9D5}"/>
              </a:ext>
            </a:extLst>
          </p:cNvPr>
          <p:cNvSpPr/>
          <p:nvPr/>
        </p:nvSpPr>
        <p:spPr>
          <a:xfrm>
            <a:off x="8576312" y="1509598"/>
            <a:ext cx="2072640" cy="3190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01F2F10-E820-B594-0FA7-BB1EA25E4376}"/>
              </a:ext>
            </a:extLst>
          </p:cNvPr>
          <p:cNvSpPr/>
          <p:nvPr/>
        </p:nvSpPr>
        <p:spPr>
          <a:xfrm>
            <a:off x="7773670" y="4876834"/>
            <a:ext cx="3180082" cy="1243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54FC969-D705-4B16-4D82-7722E2877315}"/>
              </a:ext>
            </a:extLst>
          </p:cNvPr>
          <p:cNvSpPr txBox="1"/>
          <p:nvPr/>
        </p:nvSpPr>
        <p:spPr>
          <a:xfrm>
            <a:off x="7926072" y="4919931"/>
            <a:ext cx="3098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Industria por Industria (hace falta aplicar la multiplicación correspondiente con la tabla de origen)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7053E98-44AE-1C58-8AFD-93B6D1FA4A7B}"/>
              </a:ext>
            </a:extLst>
          </p:cNvPr>
          <p:cNvSpPr txBox="1"/>
          <p:nvPr/>
        </p:nvSpPr>
        <p:spPr>
          <a:xfrm>
            <a:off x="1513840" y="5972836"/>
            <a:ext cx="91351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Rueda-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Cantuche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J. M., 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Beutel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J., 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Neuwahl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F., 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Mongelli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I., &amp; </a:t>
            </a:r>
            <a:r>
              <a:rPr lang="es-ES" sz="1600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Loeschel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 A. (2009). A SYMMETRIC INPUT–OUTPUT TABLE FOR EU27: LATEST PROGRESS. </a:t>
            </a:r>
            <a:r>
              <a:rPr lang="es-ES" sz="1600" i="1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Economic</a:t>
            </a:r>
            <a:r>
              <a:rPr lang="es-ES" sz="1600" i="1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 </a:t>
            </a:r>
            <a:r>
              <a:rPr lang="es-ES" sz="1600" i="1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Systems</a:t>
            </a:r>
            <a:r>
              <a:rPr lang="es-ES" sz="1600" i="1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 </a:t>
            </a:r>
            <a:r>
              <a:rPr lang="es-ES" sz="1600" i="1" dirty="0" err="1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Research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, </a:t>
            </a:r>
            <a:r>
              <a:rPr lang="es-ES" sz="1600" i="1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21</a:t>
            </a:r>
            <a:r>
              <a:rPr lang="es-ES" sz="1600" dirty="0">
                <a:solidFill>
                  <a:srgbClr val="333333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(1), 59–79. https://doi.org/10.1080/09535310802703429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87858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/>
      <p:bldP spid="15" grpId="0" animBg="1"/>
      <p:bldP spid="16" grpId="0" animBg="1"/>
      <p:bldP spid="17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12918</TotalTime>
  <Words>8155</Words>
  <Application>Microsoft Office PowerPoint</Application>
  <PresentationFormat>Panorámica</PresentationFormat>
  <Paragraphs>447</Paragraphs>
  <Slides>63</Slides>
  <Notes>17</Notes>
  <HiddenSlides>0</HiddenSlides>
  <MMClips>1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77" baseType="lpstr">
      <vt:lpstr>Aptos</vt:lpstr>
      <vt:lpstr>Aptos Display</vt:lpstr>
      <vt:lpstr>Arial</vt:lpstr>
      <vt:lpstr>Arial Unicode MS</vt:lpstr>
      <vt:lpstr>Arial-BoldMT</vt:lpstr>
      <vt:lpstr>Calibri</vt:lpstr>
      <vt:lpstr>Calibri Light</vt:lpstr>
      <vt:lpstr>Cambria Math</vt:lpstr>
      <vt:lpstr>Open Sans</vt:lpstr>
      <vt:lpstr>quote-cjk-patch</vt:lpstr>
      <vt:lpstr>Times New Roman</vt:lpstr>
      <vt:lpstr>TimesNewRomanPSMT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Diferencias entre Microdatos y Tablas 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Tablas Input-Output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Curso: Integración de microdatos de consumo de hogares en modelos input-output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 C</dc:creator>
  <cp:lastModifiedBy>I C</cp:lastModifiedBy>
  <cp:revision>82</cp:revision>
  <dcterms:created xsi:type="dcterms:W3CDTF">2024-08-23T08:25:22Z</dcterms:created>
  <dcterms:modified xsi:type="dcterms:W3CDTF">2026-06-21T21:27:10Z</dcterms:modified>
</cp:coreProperties>
</file>